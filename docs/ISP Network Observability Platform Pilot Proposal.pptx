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80" r:id="rId31"/>
    <p:sldId id="265" r:id="rId11"/>
    <p:sldId id="279" r:id="rId30"/>
    <p:sldId id="266" r:id="rId12"/>
    <p:sldId id="267" r:id="rId13"/>
    <p:sldId id="268" r:id="rId14"/>
    <p:sldId id="269" r:id="rId15"/>
    <p:sldId id="270" r:id="rId16"/>
    <p:sldId id="271" r:id="rId17"/>
    <p:sldId id="272" r:id="rId18"/>
    <p:sldId id="278" r:id="rId29"/>
    <p:sldId id="277" r:id="rId2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today most outages are discovered when a customer phones. This platform flips that. [Presenter name / client name /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pain. Ask the room how they usually learn about an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one platform. Next slides show each layer's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capture of NOC Overview (counts, links and routers). The incidents table is cropped out because it lists client names. Every router row is clickable to its detail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capture from the lab Grafana (one link). Utilisation tiles show N/A on some radios because airMAX exposes no capacity counters over SNMP, so they are cropped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capture from the lab Grafana, taken 9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capture from the lab Grafana. Provisioned-vs-online tiles sit above this crop; the lab has only test subscribers.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a 90-second screen capture (on a Mac: Shift+Cmd+5, record selected portion) before the meeting, since the monitored network may not be reachable from the venue. Suggested storyboard: (1) a Telegram alert arrives, (2) open NOC Overview and find the incident, (3) click the link row and show latency, loss and signal, (4) open the sector and show the worst CPE. Narrate live over a muted recording. Replace the placeholder box with the video, or play it full screen from this slide. Blur client names before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Telegram image is a live capture of the Monitoring Team group, cropped to the alert messages only. The "2 messages" figure comes from the failure drill in docs/failure-drills.md (firing plus resolved). Alerts are grouped per object and delivered to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docs/tier2-anomaly-detection.md. Compares the last hour with the previous six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team watches link and radio status, capacity and status in Ubiquiti's monitoring, The Dude and PRTG. All of that is covered here, so nothing is lost by moving. The value is what the older tools do not give you: history, per-CPE and per-subscriber views, cause-first alerting, and drift detection. Platform software has no per-sensor licence fee, but needs a named owner and has no vendor support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this is a lab with a handful of devices, one sector, and limited subscriber data. What is untested is behaviour at full network scale and across all sectors. That is exactly what the pilot is for. Rule count is from prometheus/rules (46 alert definitions, some per-vendor duplicates). Confirm the four radio families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practical section. Everything that follows is the per-sector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the topology wording with the network team. The POP router's masquerade rule is no longer needed for these sectors once the route is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commands are templates: confirm the sector subnet, the next hop and whether the sector should get a default route or only a route to the monitoring network. Replaces the old Fix 1 and Fix 2 slides. Optional extras on the sector: /system ntp client set enabled=yes servers=&lt;ntp-server&gt;, and remote logging to the monitoring server (feeds Loki later). SNMP: /snmp community add name=&lt;community&gt; addresses=&lt;monitoring-server-ip&gt;/32 read-access=yes write-access=no, then /snmp set enabled=yes. Never put the real community string on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reassurance slide: the change can be made in business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 specification: add the actual machine (CPU, RAM, disk) used in the lab and the planned production host. Prometheus keeps 15 days of history by default; this can be raised if disk allows. The named-owner point is the honest trade-off versus a commercial tool with a support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durations and the measures the bosses care about. Suggest measuring against the previous month's outage log so the comparison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targets in brackets are proposals, not commitments: agree them with the decision-makers and set them against the pilot POP's recent outage log, if one exists. Keep to three measures so the pilot result is easy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which items exist today and which are planned. Capacity digest is already running in the lab; Loki log search and the full PPPoE views are not yet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decision you want in the room today. Adjust the three asks to what you actually need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12800" y="609600"/>
            <a:ext cx="2311400" cy="831850"/>
          </a:xfrm>
          <a:prstGeom prst="roundRect">
            <a:avLst>
              <a:gd name="adj" fmla="val 12214"/>
            </a:avLst>
          </a:prstGeom>
          <a:solidFill>
            <a:srgbClr val="FFFFFF"/>
          </a:solidFill>
          <a:ln/>
        </p:spPr>
      </p:sp>
      <p:pic>
        <p:nvPicPr>
          <p:cNvPr id="3" name="Image 0" descr="Officetech">    </p:cNvPr>
          <p:cNvPicPr>
            <a:picLocks noChangeAspect="1"/>
          </p:cNvPicPr>
          <p:nvPr/>
        </p:nvPicPr>
        <p:blipFill>
          <a:blip r:embed="rId1"/>
          <a:srcRect l="0" r="0" t="-221" b="-221"/>
          <a:stretch/>
        </p:blipFill>
        <p:spPr>
          <a:xfrm>
            <a:off x="1016000" y="736600"/>
            <a:ext cx="1905000" cy="577850"/>
          </a:xfrm>
          <a:prstGeom prst="rect">
            <a:avLst/>
          </a:prstGeom>
        </p:spPr>
      </p:pic>
      <p:sp>
        <p:nvSpPr>
          <p:cNvPr id="4" name="Text 1"/>
          <p:cNvSpPr/>
          <p:nvPr/>
        </p:nvSpPr>
        <p:spPr>
          <a:xfrm>
            <a:off x="812800" y="150891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FD4FF"/>
                </a:solidFill>
                <a:latin typeface="Inter" pitchFamily="34" charset="0"/>
                <a:ea typeface="Inter" pitchFamily="34" charset="-122"/>
                <a:cs typeface="Inter" pitchFamily="34" charset="-120"/>
              </a:rPr>
              <a:t>PROPOSAL · ISP NETWORK OBSERVABILITY PLATFORM</a:t>
            </a:r>
            <a:endParaRPr lang="en-US" sz="1400" dirty="0"/>
          </a:p>
        </p:txBody>
      </p:sp>
      <p:sp>
        <p:nvSpPr>
          <p:cNvPr id="5" name="Text 2"/>
          <p:cNvSpPr/>
          <p:nvPr/>
        </p:nvSpPr>
        <p:spPr>
          <a:xfrm>
            <a:off x="812800" y="2011759"/>
            <a:ext cx="9156700" cy="2265561"/>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FFFFF"/>
                </a:solidFill>
                <a:latin typeface="Inter" pitchFamily="34" charset="0"/>
                <a:ea typeface="Inter" pitchFamily="34" charset="-122"/>
                <a:cs typeface="Inter" pitchFamily="34" charset="-120"/>
              </a:rPr>
              <a:t>See the whole network before your customers call.</a:t>
            </a:r>
            <a:endParaRPr lang="en-US" sz="5600" dirty="0"/>
          </a:p>
        </p:txBody>
      </p:sp>
      <p:sp>
        <p:nvSpPr>
          <p:cNvPr id="6" name="Text 3"/>
          <p:cNvSpPr/>
          <p:nvPr/>
        </p:nvSpPr>
        <p:spPr>
          <a:xfrm>
            <a:off x="812800" y="4505920"/>
            <a:ext cx="784860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DCE7FF"/>
                </a:solidFill>
                <a:latin typeface="Inter" pitchFamily="34" charset="0"/>
                <a:ea typeface="Inter" pitchFamily="34" charset="-122"/>
                <a:cs typeface="Inter" pitchFamily="34" charset="-120"/>
              </a:rPr>
              <a:t>A proposal to pilot one screen for links, routers, sectors and subscribers, with alerts that say what broke and why.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812800" y="812800"/>
            <a:ext cx="9810750" cy="103108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20817"/>
                </a:solidFill>
                <a:latin typeface="Inter" pitchFamily="34" charset="0"/>
                <a:ea typeface="Inter" pitchFamily="34" charset="-122"/>
                <a:cs typeface="Inter" pitchFamily="34" charset="-120"/>
              </a:rPr>
              <a:t>Today, customers are the monitoring system.</a:t>
            </a:r>
            <a:endParaRPr lang="en-US" sz="3600" dirty="0"/>
          </a:p>
        </p:txBody>
      </p:sp>
      <p:sp>
        <p:nvSpPr>
          <p:cNvPr id="3" name="Shape 1"/>
          <p:cNvSpPr/>
          <p:nvPr/>
        </p:nvSpPr>
        <p:spPr>
          <a:xfrm>
            <a:off x="815975" y="3749774"/>
            <a:ext cx="3380284" cy="2089051"/>
          </a:xfrm>
          <a:prstGeom prst="roundRect">
            <a:avLst>
              <a:gd name="adj" fmla="val 4711"/>
            </a:avLst>
          </a:prstGeom>
          <a:solidFill>
            <a:srgbClr val="FFFFFF"/>
          </a:solidFill>
          <a:ln w="6350">
            <a:solidFill>
              <a:srgbClr val="E2E8F0"/>
            </a:solidFill>
            <a:prstDash val="solid"/>
          </a:ln>
        </p:spPr>
      </p:sp>
      <p:sp>
        <p:nvSpPr>
          <p:cNvPr id="4" name="Text 2"/>
          <p:cNvSpPr/>
          <p:nvPr/>
        </p:nvSpPr>
        <p:spPr>
          <a:xfrm>
            <a:off x="1073150" y="4006949"/>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A4BCC"/>
                </a:solidFill>
                <a:latin typeface="Inter" pitchFamily="34" charset="0"/>
                <a:ea typeface="Inter" pitchFamily="34" charset="-122"/>
                <a:cs typeface="Inter" pitchFamily="34" charset="-120"/>
              </a:rPr>
              <a:t>Blind spots</a:t>
            </a:r>
            <a:endParaRPr lang="en-US" sz="2200" dirty="0"/>
          </a:p>
        </p:txBody>
      </p:sp>
      <p:sp>
        <p:nvSpPr>
          <p:cNvPr id="5" name="Text 3"/>
          <p:cNvSpPr/>
          <p:nvPr/>
        </p:nvSpPr>
        <p:spPr>
          <a:xfrm>
            <a:off x="1073150" y="4443809"/>
            <a:ext cx="295191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Inter" pitchFamily="34" charset="0"/>
                <a:ea typeface="Inter" pitchFamily="34" charset="-122"/>
                <a:cs typeface="Inter" pitchFamily="34" charset="-120"/>
              </a:rPr>
              <a:t>Radios, routers and sectors each have their own tool or none at all.</a:t>
            </a:r>
            <a:endParaRPr lang="en-US" sz="1600" dirty="0"/>
          </a:p>
        </p:txBody>
      </p:sp>
      <p:sp>
        <p:nvSpPr>
          <p:cNvPr id="6" name="Shape 4"/>
          <p:cNvSpPr/>
          <p:nvPr/>
        </p:nvSpPr>
        <p:spPr>
          <a:xfrm>
            <a:off x="4405809" y="3749774"/>
            <a:ext cx="3380383" cy="2089051"/>
          </a:xfrm>
          <a:prstGeom prst="roundRect">
            <a:avLst>
              <a:gd name="adj" fmla="val 4711"/>
            </a:avLst>
          </a:prstGeom>
          <a:solidFill>
            <a:srgbClr val="FFFFFF"/>
          </a:solidFill>
          <a:ln w="6350">
            <a:solidFill>
              <a:srgbClr val="E2E8F0"/>
            </a:solidFill>
            <a:prstDash val="solid"/>
          </a:ln>
        </p:spPr>
      </p:sp>
      <p:sp>
        <p:nvSpPr>
          <p:cNvPr id="7" name="Text 5"/>
          <p:cNvSpPr/>
          <p:nvPr/>
        </p:nvSpPr>
        <p:spPr>
          <a:xfrm>
            <a:off x="4662984" y="4006949"/>
            <a:ext cx="29520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A4BCC"/>
                </a:solidFill>
                <a:latin typeface="Inter" pitchFamily="34" charset="0"/>
                <a:ea typeface="Inter" pitchFamily="34" charset="-122"/>
                <a:cs typeface="Inter" pitchFamily="34" charset="-120"/>
              </a:rPr>
              <a:t>Alert storms</a:t>
            </a:r>
            <a:endParaRPr lang="en-US" sz="2200" dirty="0"/>
          </a:p>
        </p:txBody>
      </p:sp>
      <p:sp>
        <p:nvSpPr>
          <p:cNvPr id="8" name="Text 6"/>
          <p:cNvSpPr/>
          <p:nvPr/>
        </p:nvSpPr>
        <p:spPr>
          <a:xfrm>
            <a:off x="4662984" y="4443809"/>
            <a:ext cx="295201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Inter" pitchFamily="34" charset="0"/>
                <a:ea typeface="Inter" pitchFamily="34" charset="-122"/>
                <a:cs typeface="Inter" pitchFamily="34" charset="-120"/>
              </a:rPr>
              <a:t>One tower fails and fifty alarms bury the real cause.</a:t>
            </a:r>
            <a:endParaRPr lang="en-US" sz="1600" dirty="0"/>
          </a:p>
        </p:txBody>
      </p:sp>
      <p:sp>
        <p:nvSpPr>
          <p:cNvPr id="9" name="Shape 7"/>
          <p:cNvSpPr/>
          <p:nvPr/>
        </p:nvSpPr>
        <p:spPr>
          <a:xfrm>
            <a:off x="7995741" y="3749774"/>
            <a:ext cx="3380284" cy="2089051"/>
          </a:xfrm>
          <a:prstGeom prst="roundRect">
            <a:avLst>
              <a:gd name="adj" fmla="val 4711"/>
            </a:avLst>
          </a:prstGeom>
          <a:solidFill>
            <a:srgbClr val="FFFFFF"/>
          </a:solidFill>
          <a:ln w="6350">
            <a:solidFill>
              <a:srgbClr val="E2E8F0"/>
            </a:solidFill>
            <a:prstDash val="solid"/>
          </a:ln>
        </p:spPr>
      </p:sp>
      <p:sp>
        <p:nvSpPr>
          <p:cNvPr id="10" name="Text 8"/>
          <p:cNvSpPr/>
          <p:nvPr/>
        </p:nvSpPr>
        <p:spPr>
          <a:xfrm>
            <a:off x="8252916" y="4006949"/>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A4BCC"/>
                </a:solidFill>
                <a:latin typeface="Inter" pitchFamily="34" charset="0"/>
                <a:ea typeface="Inter" pitchFamily="34" charset="-122"/>
                <a:cs typeface="Inter" pitchFamily="34" charset="-120"/>
              </a:rPr>
              <a:t>Slow decay</a:t>
            </a:r>
            <a:endParaRPr lang="en-US" sz="2200" dirty="0"/>
          </a:p>
        </p:txBody>
      </p:sp>
      <p:sp>
        <p:nvSpPr>
          <p:cNvPr id="11" name="Text 9"/>
          <p:cNvSpPr/>
          <p:nvPr/>
        </p:nvSpPr>
        <p:spPr>
          <a:xfrm>
            <a:off x="8252916" y="4443809"/>
            <a:ext cx="2951912"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Inter" pitchFamily="34" charset="0"/>
                <a:ea typeface="Inter" pitchFamily="34" charset="-122"/>
                <a:cs typeface="Inter" pitchFamily="34" charset="-120"/>
              </a:rPr>
              <a:t>A weakening signal or a creeping noise floor goes unseen until it becomes an outage.</a:t>
            </a:r>
            <a:endParaRPr lang="en-US" sz="1600" dirty="0"/>
          </a:p>
        </p:txBody>
      </p:sp>
      <p:sp>
        <p:nvSpPr>
          <p:cNvPr id="12" name="Text 1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13" name="Image 0" descr="Officetech">    </p:cNvPr>
          <p:cNvPicPr>
            <a:picLocks noChangeAspect="1"/>
          </p:cNvPicPr>
          <p:nvPr/>
        </p:nvPicPr>
        <p:blipFill>
          <a:blip r:embed="rId1"/>
          <a:srcRect l="-105" r="-105" t="0" b="0"/>
          <a:stretch/>
        </p:blipFill>
        <p:spPr>
          <a:xfrm>
            <a:off x="10452100" y="6273800"/>
            <a:ext cx="927100" cy="279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981075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20817"/>
                </a:solidFill>
                <a:latin typeface="Inter" pitchFamily="34" charset="0"/>
                <a:ea typeface="Inter" pitchFamily="34" charset="-122"/>
                <a:cs typeface="Inter" pitchFamily="34" charset="-120"/>
              </a:rPr>
              <a:t>Every layer of the network, in one view.</a:t>
            </a:r>
            <a:endParaRPr lang="en-US" sz="3600" dirty="0"/>
          </a:p>
        </p:txBody>
      </p:sp>
      <p:sp>
        <p:nvSpPr>
          <p:cNvPr id="3" name="Shape 1"/>
          <p:cNvSpPr/>
          <p:nvPr/>
        </p:nvSpPr>
        <p:spPr>
          <a:xfrm>
            <a:off x="815975" y="3772595"/>
            <a:ext cx="2520950" cy="2066230"/>
          </a:xfrm>
          <a:prstGeom prst="roundRect">
            <a:avLst>
              <a:gd name="adj" fmla="val 4764"/>
            </a:avLst>
          </a:prstGeom>
          <a:solidFill>
            <a:srgbClr val="F1F5F9"/>
          </a:solidFill>
          <a:ln w="6350">
            <a:solidFill>
              <a:srgbClr val="E2E8F0"/>
            </a:solidFill>
            <a:prstDash val="solid"/>
          </a:ln>
        </p:spPr>
      </p:sp>
      <p:sp>
        <p:nvSpPr>
          <p:cNvPr id="4" name="Text 2"/>
          <p:cNvSpPr/>
          <p:nvPr/>
        </p:nvSpPr>
        <p:spPr>
          <a:xfrm>
            <a:off x="1073150" y="4029770"/>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BACKHAUL</a:t>
            </a:r>
            <a:endParaRPr lang="en-US" sz="1200" dirty="0"/>
          </a:p>
        </p:txBody>
      </p:sp>
      <p:sp>
        <p:nvSpPr>
          <p:cNvPr id="5" name="Text 3"/>
          <p:cNvSpPr/>
          <p:nvPr/>
        </p:nvSpPr>
        <p:spPr>
          <a:xfrm>
            <a:off x="1073150" y="4344690"/>
            <a:ext cx="20667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20817"/>
                </a:solidFill>
                <a:latin typeface="Inter" pitchFamily="34" charset="0"/>
                <a:ea typeface="Inter" pitchFamily="34" charset="-122"/>
                <a:cs typeface="Inter" pitchFamily="34" charset="-120"/>
              </a:rPr>
              <a:t>PTP links</a:t>
            </a:r>
            <a:endParaRPr lang="en-US" sz="2200" dirty="0"/>
          </a:p>
        </p:txBody>
      </p:sp>
      <p:sp>
        <p:nvSpPr>
          <p:cNvPr id="6" name="Text 4"/>
          <p:cNvSpPr/>
          <p:nvPr/>
        </p:nvSpPr>
        <p:spPr>
          <a:xfrm>
            <a:off x="1073150" y="4781550"/>
            <a:ext cx="206679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5569"/>
                </a:solidFill>
                <a:latin typeface="Inter" pitchFamily="34" charset="0"/>
                <a:ea typeface="Inter" pitchFamily="34" charset="-122"/>
                <a:cs typeface="Inter" pitchFamily="34" charset="-120"/>
              </a:rPr>
              <a:t>AirMAX, AirFiber and SAF radios scored on one health scale.</a:t>
            </a:r>
            <a:endParaRPr lang="en-US" sz="1500" dirty="0"/>
          </a:p>
        </p:txBody>
      </p:sp>
      <p:sp>
        <p:nvSpPr>
          <p:cNvPr id="7" name="Shape 5"/>
          <p:cNvSpPr/>
          <p:nvPr/>
        </p:nvSpPr>
        <p:spPr>
          <a:xfrm>
            <a:off x="3495675" y="3772595"/>
            <a:ext cx="2520950" cy="2066230"/>
          </a:xfrm>
          <a:prstGeom prst="roundRect">
            <a:avLst>
              <a:gd name="adj" fmla="val 4764"/>
            </a:avLst>
          </a:prstGeom>
          <a:solidFill>
            <a:srgbClr val="F1F5F9"/>
          </a:solidFill>
          <a:ln w="6350">
            <a:solidFill>
              <a:srgbClr val="E2E8F0"/>
            </a:solidFill>
            <a:prstDash val="solid"/>
          </a:ln>
        </p:spPr>
      </p:sp>
      <p:sp>
        <p:nvSpPr>
          <p:cNvPr id="8" name="Text 6"/>
          <p:cNvSpPr/>
          <p:nvPr/>
        </p:nvSpPr>
        <p:spPr>
          <a:xfrm>
            <a:off x="3752850" y="4029770"/>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CORE</a:t>
            </a:r>
            <a:endParaRPr lang="en-US" sz="1200" dirty="0"/>
          </a:p>
        </p:txBody>
      </p:sp>
      <p:sp>
        <p:nvSpPr>
          <p:cNvPr id="9" name="Text 7"/>
          <p:cNvSpPr/>
          <p:nvPr/>
        </p:nvSpPr>
        <p:spPr>
          <a:xfrm>
            <a:off x="3752850" y="4344690"/>
            <a:ext cx="20667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20817"/>
                </a:solidFill>
                <a:latin typeface="Inter" pitchFamily="34" charset="0"/>
                <a:ea typeface="Inter" pitchFamily="34" charset="-122"/>
                <a:cs typeface="Inter" pitchFamily="34" charset="-120"/>
              </a:rPr>
              <a:t>Routers</a:t>
            </a:r>
            <a:endParaRPr lang="en-US" sz="2200" dirty="0"/>
          </a:p>
        </p:txBody>
      </p:sp>
      <p:sp>
        <p:nvSpPr>
          <p:cNvPr id="10" name="Text 8"/>
          <p:cNvSpPr/>
          <p:nvPr/>
        </p:nvSpPr>
        <p:spPr>
          <a:xfrm>
            <a:off x="3752850" y="4781550"/>
            <a:ext cx="206679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5569"/>
                </a:solidFill>
                <a:latin typeface="Inter" pitchFamily="34" charset="0"/>
                <a:ea typeface="Inter" pitchFamily="34" charset="-122"/>
                <a:cs typeface="Inter" pitchFamily="34" charset="-120"/>
              </a:rPr>
              <a:t>CPU, memory, uptime and interface traffic for every MikroTik.</a:t>
            </a:r>
            <a:endParaRPr lang="en-US" sz="1500" dirty="0"/>
          </a:p>
        </p:txBody>
      </p:sp>
      <p:sp>
        <p:nvSpPr>
          <p:cNvPr id="11" name="Shape 9"/>
          <p:cNvSpPr/>
          <p:nvPr/>
        </p:nvSpPr>
        <p:spPr>
          <a:xfrm>
            <a:off x="6175375" y="3772595"/>
            <a:ext cx="2520950" cy="2066230"/>
          </a:xfrm>
          <a:prstGeom prst="roundRect">
            <a:avLst>
              <a:gd name="adj" fmla="val 4764"/>
            </a:avLst>
          </a:prstGeom>
          <a:solidFill>
            <a:srgbClr val="F1F5F9"/>
          </a:solidFill>
          <a:ln w="6350">
            <a:solidFill>
              <a:srgbClr val="E2E8F0"/>
            </a:solidFill>
            <a:prstDash val="solid"/>
          </a:ln>
        </p:spPr>
      </p:sp>
      <p:sp>
        <p:nvSpPr>
          <p:cNvPr id="12" name="Text 10"/>
          <p:cNvSpPr/>
          <p:nvPr/>
        </p:nvSpPr>
        <p:spPr>
          <a:xfrm>
            <a:off x="6432550" y="4029770"/>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ACCESS</a:t>
            </a:r>
            <a:endParaRPr lang="en-US" sz="1200" dirty="0"/>
          </a:p>
        </p:txBody>
      </p:sp>
      <p:sp>
        <p:nvSpPr>
          <p:cNvPr id="13" name="Text 11"/>
          <p:cNvSpPr/>
          <p:nvPr/>
        </p:nvSpPr>
        <p:spPr>
          <a:xfrm>
            <a:off x="6432550" y="4344690"/>
            <a:ext cx="20667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20817"/>
                </a:solidFill>
                <a:latin typeface="Inter" pitchFamily="34" charset="0"/>
                <a:ea typeface="Inter" pitchFamily="34" charset="-122"/>
                <a:cs typeface="Inter" pitchFamily="34" charset="-120"/>
              </a:rPr>
              <a:t>Sectors</a:t>
            </a:r>
            <a:endParaRPr lang="en-US" sz="2200" dirty="0"/>
          </a:p>
        </p:txBody>
      </p:sp>
      <p:sp>
        <p:nvSpPr>
          <p:cNvPr id="14" name="Text 12"/>
          <p:cNvSpPr/>
          <p:nvPr/>
        </p:nvSpPr>
        <p:spPr>
          <a:xfrm>
            <a:off x="6432550" y="4781550"/>
            <a:ext cx="206679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5569"/>
                </a:solidFill>
                <a:latin typeface="Inter" pitchFamily="34" charset="0"/>
                <a:ea typeface="Inter" pitchFamily="34" charset="-122"/>
                <a:cs typeface="Inter" pitchFamily="34" charset="-120"/>
              </a:rPr>
              <a:t>Clients, throughput, noise floor and every CPE's signal.</a:t>
            </a:r>
            <a:endParaRPr lang="en-US" sz="1500" dirty="0"/>
          </a:p>
        </p:txBody>
      </p:sp>
      <p:sp>
        <p:nvSpPr>
          <p:cNvPr id="15" name="Shape 13"/>
          <p:cNvSpPr/>
          <p:nvPr/>
        </p:nvSpPr>
        <p:spPr>
          <a:xfrm>
            <a:off x="8855075" y="3772595"/>
            <a:ext cx="2520950" cy="2066230"/>
          </a:xfrm>
          <a:prstGeom prst="roundRect">
            <a:avLst>
              <a:gd name="adj" fmla="val 4764"/>
            </a:avLst>
          </a:prstGeom>
          <a:solidFill>
            <a:srgbClr val="F1F5F9"/>
          </a:solidFill>
          <a:ln w="6350">
            <a:solidFill>
              <a:srgbClr val="E2E8F0"/>
            </a:solidFill>
            <a:prstDash val="solid"/>
          </a:ln>
        </p:spPr>
      </p:sp>
      <p:sp>
        <p:nvSpPr>
          <p:cNvPr id="16" name="Text 14"/>
          <p:cNvSpPr/>
          <p:nvPr/>
        </p:nvSpPr>
        <p:spPr>
          <a:xfrm>
            <a:off x="9112250" y="4029770"/>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CUSTOMERS</a:t>
            </a:r>
            <a:endParaRPr lang="en-US" sz="1200" dirty="0"/>
          </a:p>
        </p:txBody>
      </p:sp>
      <p:sp>
        <p:nvSpPr>
          <p:cNvPr id="17" name="Text 15"/>
          <p:cNvSpPr/>
          <p:nvPr/>
        </p:nvSpPr>
        <p:spPr>
          <a:xfrm>
            <a:off x="9112250" y="4344690"/>
            <a:ext cx="20667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20817"/>
                </a:solidFill>
                <a:latin typeface="Inter" pitchFamily="34" charset="0"/>
                <a:ea typeface="Inter" pitchFamily="34" charset="-122"/>
                <a:cs typeface="Inter" pitchFamily="34" charset="-120"/>
              </a:rPr>
              <a:t>Subscribers</a:t>
            </a:r>
            <a:endParaRPr lang="en-US" sz="2200" dirty="0"/>
          </a:p>
        </p:txBody>
      </p:sp>
      <p:sp>
        <p:nvSpPr>
          <p:cNvPr id="18" name="Text 16"/>
          <p:cNvSpPr/>
          <p:nvPr/>
        </p:nvSpPr>
        <p:spPr>
          <a:xfrm>
            <a:off x="9112250" y="4781550"/>
            <a:ext cx="206679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5569"/>
                </a:solidFill>
                <a:latin typeface="Inter" pitchFamily="34" charset="0"/>
                <a:ea typeface="Inter" pitchFamily="34" charset="-122"/>
                <a:cs typeface="Inter" pitchFamily="34" charset="-120"/>
              </a:rPr>
              <a:t>Who is online, who should be, and why someone dropped.</a:t>
            </a:r>
            <a:endParaRPr lang="en-US" sz="1500" dirty="0"/>
          </a:p>
        </p:txBody>
      </p:sp>
      <p:sp>
        <p:nvSpPr>
          <p:cNvPr id="19"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20" name="Image 0" descr="Officetech">    </p:cNvPr>
          <p:cNvPicPr>
            <a:picLocks noChangeAspect="1"/>
          </p:cNvPicPr>
          <p:nvPr/>
        </p:nvPicPr>
        <p:blipFill>
          <a:blip r:embed="rId1"/>
          <a:srcRect l="-105" r="-105" t="0" b="0"/>
          <a:stretch/>
        </p:blipFill>
        <p:spPr>
          <a:xfrm>
            <a:off x="10452100" y="6273800"/>
            <a:ext cx="927100" cy="279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439043"/>
          </a:xfrm>
          <a:prstGeom prst="rect">
            <a:avLst/>
          </a:prstGeom>
          <a:noFill/>
          <a:ln/>
        </p:spPr>
        <p:txBody>
          <a:bodyPr wrap="square" lIns="0" tIns="0" rIns="0" bIns="0" rtlCol="0" anchor="t">
            <a:normAutofit/>
          </a:bodyPr>
          <a:lstStyle/>
          <a:p>
            <a:pPr algn="l" indent="0" marL="0">
              <a:lnSpc>
                <a:spcPts val="3269"/>
              </a:lnSpc>
              <a:buNone/>
            </a:pPr>
            <a:r>
              <a:rPr lang="en-US" sz="2972" b="1" dirty="0">
                <a:solidFill>
                  <a:srgbClr val="020817"/>
                </a:solidFill>
                <a:latin typeface="Inter" pitchFamily="34" charset="0"/>
                <a:ea typeface="Inter" pitchFamily="34" charset="-122"/>
                <a:cs typeface="Inter" pitchFamily="34" charset="-120"/>
              </a:rPr>
              <a:t>One screen for the whole network.</a:t>
            </a:r>
            <a:endParaRPr lang="en-US" sz="2972" dirty="0"/>
          </a:p>
        </p:txBody>
      </p:sp>
      <p:sp>
        <p:nvSpPr>
          <p:cNvPr id="3" name="Shape 1"/>
          <p:cNvSpPr/>
          <p:nvPr/>
        </p:nvSpPr>
        <p:spPr>
          <a:xfrm>
            <a:off x="812800" y="1429643"/>
            <a:ext cx="10566400" cy="3258741"/>
          </a:xfrm>
          <a:prstGeom prst="roundRect">
            <a:avLst>
              <a:gd name="adj" fmla="val 2338"/>
            </a:avLst>
          </a:prstGeom>
          <a:solidFill>
            <a:srgbClr val="0B1119"/>
          </a:solidFill>
          <a:ln/>
        </p:spPr>
      </p:sp>
      <p:pic>
        <p:nvPicPr>
          <p:cNvPr id="4" name="Image 0" descr="NOC Overview: state counts for links, routers and sectors, with the link and router tables">    </p:cNvPr>
          <p:cNvPicPr>
            <a:picLocks noChangeAspect="1"/>
          </p:cNvPicPr>
          <p:nvPr/>
        </p:nvPicPr>
        <p:blipFill>
          <a:blip r:embed="rId1"/>
          <a:stretch>
            <a:fillRect/>
          </a:stretch>
        </p:blipFill>
        <p:spPr>
          <a:xfrm>
            <a:off x="2268122" y="1435993"/>
            <a:ext cx="7655756" cy="3246041"/>
          </a:xfrm>
          <a:prstGeom prst="rect">
            <a:avLst/>
          </a:prstGeom>
        </p:spPr>
      </p:pic>
      <p:sp>
        <p:nvSpPr>
          <p:cNvPr id="5" name="Shape 2"/>
          <p:cNvSpPr/>
          <p:nvPr/>
        </p:nvSpPr>
        <p:spPr>
          <a:xfrm>
            <a:off x="815975" y="1432818"/>
            <a:ext cx="10560050" cy="3252391"/>
          </a:xfrm>
          <a:prstGeom prst="roundRect">
            <a:avLst>
              <a:gd name="adj" fmla="val 2245"/>
            </a:avLst>
          </a:prstGeom>
          <a:noFill/>
          <a:ln w="6350">
            <a:solidFill>
              <a:srgbClr val="E2E8F0"/>
            </a:solidFill>
            <a:prstDash val="solid"/>
          </a:ln>
        </p:spPr>
      </p:sp>
      <p:sp>
        <p:nvSpPr>
          <p:cNvPr id="6" name="Text 3"/>
          <p:cNvSpPr/>
          <p:nvPr/>
        </p:nvSpPr>
        <p:spPr>
          <a:xfrm>
            <a:off x="812800" y="4891584"/>
            <a:ext cx="352308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4BCC"/>
                </a:solidFill>
                <a:latin typeface="Inter" pitchFamily="34" charset="0"/>
                <a:ea typeface="Inter" pitchFamily="34" charset="-122"/>
                <a:cs typeface="Inter" pitchFamily="34" charset="-120"/>
              </a:rPr>
              <a:t>Incidents on top</a:t>
            </a:r>
            <a:endParaRPr lang="en-US" sz="1600" dirty="0"/>
          </a:p>
        </p:txBody>
      </p:sp>
      <p:sp>
        <p:nvSpPr>
          <p:cNvPr id="7" name="Text 4"/>
          <p:cNvSpPr/>
          <p:nvPr/>
        </p:nvSpPr>
        <p:spPr>
          <a:xfrm>
            <a:off x="812800" y="5186164"/>
            <a:ext cx="352308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75569"/>
                </a:solidFill>
                <a:latin typeface="Inter" pitchFamily="34" charset="0"/>
                <a:ea typeface="Inter" pitchFamily="34" charset="-122"/>
                <a:cs typeface="Inter" pitchFamily="34" charset="-120"/>
              </a:rPr>
              <a:t>Every firing alert sits above this view, one row per object, longest-running first.</a:t>
            </a:r>
            <a:endParaRPr lang="en-US" sz="1300" dirty="0"/>
          </a:p>
        </p:txBody>
      </p:sp>
      <p:sp>
        <p:nvSpPr>
          <p:cNvPr id="8" name="Text 5"/>
          <p:cNvSpPr/>
          <p:nvPr/>
        </p:nvSpPr>
        <p:spPr>
          <a:xfrm>
            <a:off x="4385667" y="4891584"/>
            <a:ext cx="3523183" cy="26580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4BCC"/>
                </a:solidFill>
                <a:latin typeface="Inter" pitchFamily="34" charset="0"/>
                <a:ea typeface="Inter" pitchFamily="34" charset="-122"/>
                <a:cs typeface="Inter" pitchFamily="34" charset="-120"/>
              </a:rPr>
              <a:t>State counts</a:t>
            </a:r>
            <a:endParaRPr lang="en-US" sz="1600" dirty="0"/>
          </a:p>
        </p:txBody>
      </p:sp>
      <p:sp>
        <p:nvSpPr>
          <p:cNvPr id="9" name="Text 6"/>
          <p:cNvSpPr/>
          <p:nvPr/>
        </p:nvSpPr>
        <p:spPr>
          <a:xfrm>
            <a:off x="4385667" y="5182791"/>
            <a:ext cx="3523183" cy="684609"/>
          </a:xfrm>
          <a:prstGeom prst="rect">
            <a:avLst/>
          </a:prstGeom>
          <a:noFill/>
          <a:ln/>
        </p:spPr>
        <p:txBody>
          <a:bodyPr wrap="square" lIns="0" tIns="0" rIns="0" bIns="0" rtlCol="0" anchor="t">
            <a:normAutofit/>
          </a:bodyPr>
          <a:lstStyle/>
          <a:p>
            <a:pPr algn="l" indent="0" marL="0">
              <a:lnSpc>
                <a:spcPts val="1739"/>
              </a:lnSpc>
              <a:buNone/>
            </a:pPr>
            <a:r>
              <a:rPr lang="en-US" sz="1288" dirty="0">
                <a:solidFill>
                  <a:srgbClr val="475569"/>
                </a:solidFill>
                <a:latin typeface="Inter" pitchFamily="34" charset="0"/>
                <a:ea typeface="Inter" pitchFamily="34" charset="-122"/>
                <a:cs typeface="Inter" pitchFamily="34" charset="-120"/>
              </a:rPr>
              <a:t>Links, routers and sectors up or down at a glance, with CPU, memory and uptime per router.</a:t>
            </a:r>
            <a:endParaRPr lang="en-US" sz="1288" dirty="0"/>
          </a:p>
        </p:txBody>
      </p:sp>
      <p:sp>
        <p:nvSpPr>
          <p:cNvPr id="10" name="Text 7"/>
          <p:cNvSpPr/>
          <p:nvPr/>
        </p:nvSpPr>
        <p:spPr>
          <a:xfrm>
            <a:off x="7958634" y="4891584"/>
            <a:ext cx="352318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4BCC"/>
                </a:solidFill>
                <a:latin typeface="Inter" pitchFamily="34" charset="0"/>
                <a:ea typeface="Inter" pitchFamily="34" charset="-122"/>
                <a:cs typeface="Inter" pitchFamily="34" charset="-120"/>
              </a:rPr>
              <a:t>Click-through</a:t>
            </a:r>
            <a:endParaRPr lang="en-US" sz="1600" dirty="0"/>
          </a:p>
        </p:txBody>
      </p:sp>
      <p:sp>
        <p:nvSpPr>
          <p:cNvPr id="11" name="Text 8"/>
          <p:cNvSpPr/>
          <p:nvPr/>
        </p:nvSpPr>
        <p:spPr>
          <a:xfrm>
            <a:off x="7958634" y="5186164"/>
            <a:ext cx="410468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75569"/>
                </a:solidFill>
                <a:latin typeface="Inter" pitchFamily="34" charset="0"/>
                <a:ea typeface="Inter" pitchFamily="34" charset="-122"/>
                <a:cs typeface="Inter" pitchFamily="34" charset="-120"/>
              </a:rPr>
              <a:t>Any link or router row opens its detail view.</a:t>
            </a:r>
            <a:endParaRPr lang="en-US" sz="1300" dirty="0"/>
          </a:p>
        </p:txBody>
      </p:sp>
      <p:sp>
        <p:nvSpPr>
          <p:cNvPr id="12" name="Text 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13" name="Image 1" descr="Officetech">    </p:cNvPr>
          <p:cNvPicPr>
            <a:picLocks noChangeAspect="1"/>
          </p:cNvPicPr>
          <p:nvPr/>
        </p:nvPicPr>
        <p:blipFill>
          <a:blip r:embed="rId2"/>
          <a:srcRect l="-105" r="-105" t="0" b="0"/>
          <a:stretch/>
        </p:blipFill>
        <p:spPr>
          <a:xfrm>
            <a:off x="10452100" y="6273800"/>
            <a:ext cx="927100" cy="279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20817"/>
                </a:solidFill>
                <a:latin typeface="Inter" pitchFamily="34" charset="0"/>
                <a:ea typeface="Inter" pitchFamily="34" charset="-122"/>
                <a:cs typeface="Inter" pitchFamily="34" charset="-120"/>
              </a:rPr>
              <a:t>Every backhaul link, scored.</a:t>
            </a:r>
            <a:endParaRPr lang="en-US" sz="3000" dirty="0"/>
          </a:p>
        </p:txBody>
      </p:sp>
      <p:sp>
        <p:nvSpPr>
          <p:cNvPr id="3" name="Shape 1"/>
          <p:cNvSpPr/>
          <p:nvPr/>
        </p:nvSpPr>
        <p:spPr>
          <a:xfrm>
            <a:off x="812800" y="1435100"/>
            <a:ext cx="4826000" cy="4064000"/>
          </a:xfrm>
          <a:prstGeom prst="roundRect">
            <a:avLst>
              <a:gd name="adj" fmla="val 1875"/>
            </a:avLst>
          </a:prstGeom>
          <a:solidFill>
            <a:srgbClr val="0B1119"/>
          </a:solidFill>
          <a:ln/>
        </p:spPr>
      </p:sp>
      <p:pic>
        <p:nvPicPr>
          <p:cNvPr id="4" name="Image 0" descr="PTP Link Monitoring: link status, health score, latency, signal and noise, packet loss">    </p:cNvPr>
          <p:cNvPicPr>
            <a:picLocks noChangeAspect="1"/>
          </p:cNvPicPr>
          <p:nvPr/>
        </p:nvPicPr>
        <p:blipFill>
          <a:blip r:embed="rId1"/>
          <a:srcRect l="0" r="0" t="-37" b="-37"/>
          <a:stretch/>
        </p:blipFill>
        <p:spPr>
          <a:xfrm>
            <a:off x="819150" y="1441450"/>
            <a:ext cx="4813300" cy="4051300"/>
          </a:xfrm>
          <a:prstGeom prst="roundRect">
            <a:avLst>
              <a:gd name="adj" fmla="val 1724"/>
            </a:avLst>
          </a:prstGeom>
        </p:spPr>
      </p:pic>
      <p:sp>
        <p:nvSpPr>
          <p:cNvPr id="5" name="Shape 2"/>
          <p:cNvSpPr/>
          <p:nvPr/>
        </p:nvSpPr>
        <p:spPr>
          <a:xfrm>
            <a:off x="815975" y="1438275"/>
            <a:ext cx="4819650" cy="4057650"/>
          </a:xfrm>
          <a:prstGeom prst="roundRect">
            <a:avLst>
              <a:gd name="adj" fmla="val 1800"/>
            </a:avLst>
          </a:prstGeom>
          <a:noFill/>
          <a:ln w="6350">
            <a:solidFill>
              <a:srgbClr val="E2E8F0"/>
            </a:solidFill>
            <a:prstDash val="solid"/>
          </a:ln>
        </p:spPr>
      </p:sp>
      <p:sp>
        <p:nvSpPr>
          <p:cNvPr id="6" name="Text 3"/>
          <p:cNvSpPr/>
          <p:nvPr/>
        </p:nvSpPr>
        <p:spPr>
          <a:xfrm>
            <a:off x="5943600" y="2365474"/>
            <a:ext cx="55986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4BCC"/>
                </a:solidFill>
                <a:latin typeface="Inter" pitchFamily="34" charset="0"/>
                <a:ea typeface="Inter" pitchFamily="34" charset="-122"/>
                <a:cs typeface="Inter" pitchFamily="34" charset="-120"/>
              </a:rPr>
              <a:t>One health score</a:t>
            </a:r>
            <a:endParaRPr lang="en-US" sz="1800" dirty="0"/>
          </a:p>
        </p:txBody>
      </p:sp>
      <p:sp>
        <p:nvSpPr>
          <p:cNvPr id="7" name="Text 4"/>
          <p:cNvSpPr/>
          <p:nvPr/>
        </p:nvSpPr>
        <p:spPr>
          <a:xfrm>
            <a:off x="5943600" y="2690515"/>
            <a:ext cx="559866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75569"/>
                </a:solidFill>
                <a:latin typeface="Inter" pitchFamily="34" charset="0"/>
                <a:ea typeface="Inter" pitchFamily="34" charset="-122"/>
                <a:cs typeface="Inter" pitchFamily="34" charset="-120"/>
              </a:rPr>
              <a:t>Any vendor, same scale, so weak links stand out.</a:t>
            </a:r>
            <a:endParaRPr lang="en-US" sz="1400" dirty="0"/>
          </a:p>
        </p:txBody>
      </p:sp>
      <p:sp>
        <p:nvSpPr>
          <p:cNvPr id="8" name="Text 5"/>
          <p:cNvSpPr/>
          <p:nvPr/>
        </p:nvSpPr>
        <p:spPr>
          <a:xfrm>
            <a:off x="5943600" y="3184525"/>
            <a:ext cx="55986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4BCC"/>
                </a:solidFill>
                <a:latin typeface="Inter" pitchFamily="34" charset="0"/>
                <a:ea typeface="Inter" pitchFamily="34" charset="-122"/>
                <a:cs typeface="Inter" pitchFamily="34" charset="-120"/>
              </a:rPr>
              <a:t>Latency and loss</a:t>
            </a:r>
            <a:endParaRPr lang="en-US" sz="1800" dirty="0"/>
          </a:p>
        </p:txBody>
      </p:sp>
      <p:sp>
        <p:nvSpPr>
          <p:cNvPr id="9" name="Text 6"/>
          <p:cNvSpPr/>
          <p:nvPr/>
        </p:nvSpPr>
        <p:spPr>
          <a:xfrm>
            <a:off x="5943600" y="3509566"/>
            <a:ext cx="559866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75569"/>
                </a:solidFill>
                <a:latin typeface="Inter" pitchFamily="34" charset="0"/>
                <a:ea typeface="Inter" pitchFamily="34" charset="-122"/>
                <a:cs typeface="Inter" pitchFamily="34" charset="-120"/>
              </a:rPr>
              <a:t>Measured continuously, shown over time.</a:t>
            </a:r>
            <a:endParaRPr lang="en-US" sz="1400" dirty="0"/>
          </a:p>
        </p:txBody>
      </p:sp>
      <p:sp>
        <p:nvSpPr>
          <p:cNvPr id="10" name="Text 7"/>
          <p:cNvSpPr/>
          <p:nvPr/>
        </p:nvSpPr>
        <p:spPr>
          <a:xfrm>
            <a:off x="5943600" y="4003576"/>
            <a:ext cx="55986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4BCC"/>
                </a:solidFill>
                <a:latin typeface="Inter" pitchFamily="34" charset="0"/>
                <a:ea typeface="Inter" pitchFamily="34" charset="-122"/>
                <a:cs typeface="Inter" pitchFamily="34" charset="-120"/>
              </a:rPr>
              <a:t>Signal, noise and SNR</a:t>
            </a:r>
            <a:endParaRPr lang="en-US" sz="1800" dirty="0"/>
          </a:p>
        </p:txBody>
      </p:sp>
      <p:sp>
        <p:nvSpPr>
          <p:cNvPr id="11" name="Text 8"/>
          <p:cNvSpPr/>
          <p:nvPr/>
        </p:nvSpPr>
        <p:spPr>
          <a:xfrm>
            <a:off x="5943600" y="4328616"/>
            <a:ext cx="559866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75569"/>
                </a:solidFill>
                <a:latin typeface="Inter" pitchFamily="34" charset="0"/>
                <a:ea typeface="Inter" pitchFamily="34" charset="-122"/>
                <a:cs typeface="Inter" pitchFamily="34" charset="-120"/>
              </a:rPr>
              <a:t>RF quality tracked before users feel it.</a:t>
            </a:r>
            <a:endParaRPr lang="en-US" sz="1400" dirty="0"/>
          </a:p>
        </p:txBody>
      </p:sp>
      <p:sp>
        <p:nvSpPr>
          <p:cNvPr id="12" name="Text 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13" name="Image 1" descr="Officetech">    </p:cNvPr>
          <p:cNvPicPr>
            <a:picLocks noChangeAspect="1"/>
          </p:cNvPicPr>
          <p:nvPr/>
        </p:nvPicPr>
        <p:blipFill>
          <a:blip r:embed="rId2"/>
          <a:srcRect l="-105" r="-105" t="0" b="0"/>
          <a:stretch/>
        </p:blipFill>
        <p:spPr>
          <a:xfrm>
            <a:off x="10452100" y="6273800"/>
            <a:ext cx="927100" cy="279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20817"/>
                </a:solidFill>
                <a:latin typeface="Inter" pitchFamily="34" charset="0"/>
                <a:ea typeface="Inter" pitchFamily="34" charset="-122"/>
                <a:cs typeface="Inter" pitchFamily="34" charset="-120"/>
              </a:rPr>
              <a:t>Every sector, and every CPE behind it.</a:t>
            </a:r>
            <a:endParaRPr lang="en-US" sz="3000" dirty="0"/>
          </a:p>
        </p:txBody>
      </p:sp>
      <p:sp>
        <p:nvSpPr>
          <p:cNvPr id="3" name="Shape 1"/>
          <p:cNvSpPr/>
          <p:nvPr/>
        </p:nvSpPr>
        <p:spPr>
          <a:xfrm>
            <a:off x="812800" y="1435100"/>
            <a:ext cx="10566400" cy="3302000"/>
          </a:xfrm>
          <a:prstGeom prst="roundRect">
            <a:avLst>
              <a:gd name="adj" fmla="val 2308"/>
            </a:avLst>
          </a:prstGeom>
          <a:solidFill>
            <a:srgbClr val="0B1119"/>
          </a:solidFill>
          <a:ln/>
        </p:spPr>
      </p:sp>
      <p:pic>
        <p:nvPicPr>
          <p:cNvPr id="4" name="Image 0" descr="Sector Detail dashboard: status, clients, throughput, noise floor and worst CPE signal">    </p:cNvPr>
          <p:cNvPicPr>
            <a:picLocks noChangeAspect="1"/>
          </p:cNvPicPr>
          <p:nvPr/>
        </p:nvPicPr>
        <p:blipFill>
          <a:blip r:embed="rId1"/>
          <a:stretch>
            <a:fillRect/>
          </a:stretch>
        </p:blipFill>
        <p:spPr>
          <a:xfrm>
            <a:off x="1651000" y="1441450"/>
            <a:ext cx="8890000" cy="3289300"/>
          </a:xfrm>
          <a:prstGeom prst="rect">
            <a:avLst/>
          </a:prstGeom>
        </p:spPr>
      </p:pic>
      <p:sp>
        <p:nvSpPr>
          <p:cNvPr id="5" name="Shape 2"/>
          <p:cNvSpPr/>
          <p:nvPr/>
        </p:nvSpPr>
        <p:spPr>
          <a:xfrm>
            <a:off x="815975" y="1438275"/>
            <a:ext cx="10560050" cy="3295650"/>
          </a:xfrm>
          <a:prstGeom prst="roundRect">
            <a:avLst>
              <a:gd name="adj" fmla="val 2216"/>
            </a:avLst>
          </a:prstGeom>
          <a:noFill/>
          <a:ln w="6350">
            <a:solidFill>
              <a:srgbClr val="E2E8F0"/>
            </a:solidFill>
            <a:prstDash val="solid"/>
          </a:ln>
        </p:spPr>
      </p:sp>
      <p:sp>
        <p:nvSpPr>
          <p:cNvPr id="6" name="Text 3"/>
          <p:cNvSpPr/>
          <p:nvPr/>
        </p:nvSpPr>
        <p:spPr>
          <a:xfrm>
            <a:off x="812800" y="4940300"/>
            <a:ext cx="352308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4BCC"/>
                </a:solidFill>
                <a:latin typeface="Inter" pitchFamily="34" charset="0"/>
                <a:ea typeface="Inter" pitchFamily="34" charset="-122"/>
                <a:cs typeface="Inter" pitchFamily="34" charset="-120"/>
              </a:rPr>
              <a:t>Capacity</a:t>
            </a:r>
            <a:endParaRPr lang="en-US" sz="1600" dirty="0"/>
          </a:p>
        </p:txBody>
      </p:sp>
      <p:sp>
        <p:nvSpPr>
          <p:cNvPr id="7" name="Text 4"/>
          <p:cNvSpPr/>
          <p:nvPr/>
        </p:nvSpPr>
        <p:spPr>
          <a:xfrm>
            <a:off x="812800" y="5234880"/>
            <a:ext cx="352308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75569"/>
                </a:solidFill>
                <a:latin typeface="Inter" pitchFamily="34" charset="0"/>
                <a:ea typeface="Inter" pitchFamily="34" charset="-122"/>
                <a:cs typeface="Inter" pitchFamily="34" charset="-120"/>
              </a:rPr>
              <a:t>Clients and Mbps against each sector's limits.</a:t>
            </a:r>
            <a:endParaRPr lang="en-US" sz="1300" dirty="0"/>
          </a:p>
        </p:txBody>
      </p:sp>
      <p:sp>
        <p:nvSpPr>
          <p:cNvPr id="8" name="Text 5"/>
          <p:cNvSpPr/>
          <p:nvPr/>
        </p:nvSpPr>
        <p:spPr>
          <a:xfrm>
            <a:off x="4385667" y="4940300"/>
            <a:ext cx="352318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4BCC"/>
                </a:solidFill>
                <a:latin typeface="Inter" pitchFamily="34" charset="0"/>
                <a:ea typeface="Inter" pitchFamily="34" charset="-122"/>
                <a:cs typeface="Inter" pitchFamily="34" charset="-120"/>
              </a:rPr>
              <a:t>Worst CPE first</a:t>
            </a:r>
            <a:endParaRPr lang="en-US" sz="1600" dirty="0"/>
          </a:p>
        </p:txBody>
      </p:sp>
      <p:sp>
        <p:nvSpPr>
          <p:cNvPr id="9" name="Text 6"/>
          <p:cNvSpPr/>
          <p:nvPr/>
        </p:nvSpPr>
        <p:spPr>
          <a:xfrm>
            <a:off x="4385667" y="5234880"/>
            <a:ext cx="352318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75569"/>
                </a:solidFill>
                <a:latin typeface="Inter" pitchFamily="34" charset="0"/>
                <a:ea typeface="Inter" pitchFamily="34" charset="-122"/>
                <a:cs typeface="Inter" pitchFamily="34" charset="-120"/>
              </a:rPr>
              <a:t>The weakest CPE signal on each sector, shown up front.</a:t>
            </a:r>
            <a:endParaRPr lang="en-US" sz="1300" dirty="0"/>
          </a:p>
        </p:txBody>
      </p:sp>
      <p:sp>
        <p:nvSpPr>
          <p:cNvPr id="10" name="Text 7"/>
          <p:cNvSpPr/>
          <p:nvPr/>
        </p:nvSpPr>
        <p:spPr>
          <a:xfrm>
            <a:off x="7958634" y="4940300"/>
            <a:ext cx="352318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4BCC"/>
                </a:solidFill>
                <a:latin typeface="Inter" pitchFamily="34" charset="0"/>
                <a:ea typeface="Inter" pitchFamily="34" charset="-122"/>
                <a:cs typeface="Inter" pitchFamily="34" charset="-120"/>
              </a:rPr>
              <a:t>Noise floor</a:t>
            </a:r>
            <a:endParaRPr lang="en-US" sz="1600" dirty="0"/>
          </a:p>
        </p:txBody>
      </p:sp>
      <p:sp>
        <p:nvSpPr>
          <p:cNvPr id="11" name="Text 8"/>
          <p:cNvSpPr/>
          <p:nvPr/>
        </p:nvSpPr>
        <p:spPr>
          <a:xfrm>
            <a:off x="7958634" y="5234880"/>
            <a:ext cx="352318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75569"/>
                </a:solidFill>
                <a:latin typeface="Inter" pitchFamily="34" charset="0"/>
                <a:ea typeface="Inter" pitchFamily="34" charset="-122"/>
                <a:cs typeface="Inter" pitchFamily="34" charset="-120"/>
              </a:rPr>
              <a:t>Interference visible before it hurts customers.</a:t>
            </a:r>
            <a:endParaRPr lang="en-US" sz="1300" dirty="0"/>
          </a:p>
        </p:txBody>
      </p:sp>
      <p:sp>
        <p:nvSpPr>
          <p:cNvPr id="12" name="Text 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13" name="Image 1" descr="Officetech">    </p:cNvPr>
          <p:cNvPicPr>
            <a:picLocks noChangeAspect="1"/>
          </p:cNvPicPr>
          <p:nvPr/>
        </p:nvPicPr>
        <p:blipFill>
          <a:blip r:embed="rId2"/>
          <a:srcRect l="-105" r="-105" t="0" b="0"/>
          <a:stretch/>
        </p:blipFill>
        <p:spPr>
          <a:xfrm>
            <a:off x="10452100" y="6273800"/>
            <a:ext cx="927100" cy="279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20817"/>
                </a:solidFill>
                <a:latin typeface="Inter" pitchFamily="34" charset="0"/>
                <a:ea typeface="Inter" pitchFamily="34" charset="-122"/>
                <a:cs typeface="Inter" pitchFamily="34" charset="-120"/>
              </a:rPr>
              <a:t>Who is online, and who should be.</a:t>
            </a:r>
            <a:endParaRPr lang="en-US" sz="3000" dirty="0"/>
          </a:p>
        </p:txBody>
      </p:sp>
      <p:sp>
        <p:nvSpPr>
          <p:cNvPr id="3" name="Shape 1"/>
          <p:cNvSpPr/>
          <p:nvPr/>
        </p:nvSpPr>
        <p:spPr>
          <a:xfrm>
            <a:off x="812800" y="1435100"/>
            <a:ext cx="10566400" cy="3302000"/>
          </a:xfrm>
          <a:prstGeom prst="roundRect">
            <a:avLst>
              <a:gd name="adj" fmla="val 2308"/>
            </a:avLst>
          </a:prstGeom>
          <a:solidFill>
            <a:srgbClr val="0B1119"/>
          </a:solidFill>
          <a:ln/>
        </p:spPr>
      </p:sp>
      <p:pic>
        <p:nvPicPr>
          <p:cNvPr id="4" name="Image 0" descr="Subscriber Overview: active sessions over time, flapping subscribers and disconnect reasons">    </p:cNvPr>
          <p:cNvPicPr>
            <a:picLocks noChangeAspect="1"/>
          </p:cNvPicPr>
          <p:nvPr/>
        </p:nvPicPr>
        <p:blipFill>
          <a:blip r:embed="rId1"/>
          <a:stretch>
            <a:fillRect/>
          </a:stretch>
        </p:blipFill>
        <p:spPr>
          <a:xfrm>
            <a:off x="1397000" y="1441450"/>
            <a:ext cx="9398000" cy="3289300"/>
          </a:xfrm>
          <a:prstGeom prst="rect">
            <a:avLst/>
          </a:prstGeom>
        </p:spPr>
      </p:pic>
      <p:sp>
        <p:nvSpPr>
          <p:cNvPr id="5" name="Shape 2"/>
          <p:cNvSpPr/>
          <p:nvPr/>
        </p:nvSpPr>
        <p:spPr>
          <a:xfrm>
            <a:off x="815975" y="1438275"/>
            <a:ext cx="10560050" cy="3295650"/>
          </a:xfrm>
          <a:prstGeom prst="roundRect">
            <a:avLst>
              <a:gd name="adj" fmla="val 2216"/>
            </a:avLst>
          </a:prstGeom>
          <a:noFill/>
          <a:ln w="6350">
            <a:solidFill>
              <a:srgbClr val="E2E8F0"/>
            </a:solidFill>
            <a:prstDash val="solid"/>
          </a:ln>
        </p:spPr>
      </p:sp>
      <p:sp>
        <p:nvSpPr>
          <p:cNvPr id="6" name="Text 3"/>
          <p:cNvSpPr/>
          <p:nvPr/>
        </p:nvSpPr>
        <p:spPr>
          <a:xfrm>
            <a:off x="812800" y="4940300"/>
            <a:ext cx="352308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4BCC"/>
                </a:solidFill>
                <a:latin typeface="Inter" pitchFamily="34" charset="0"/>
                <a:ea typeface="Inter" pitchFamily="34" charset="-122"/>
                <a:cs typeface="Inter" pitchFamily="34" charset="-120"/>
              </a:rPr>
              <a:t>Sessions per POP</a:t>
            </a:r>
            <a:endParaRPr lang="en-US" sz="1600" dirty="0"/>
          </a:p>
        </p:txBody>
      </p:sp>
      <p:sp>
        <p:nvSpPr>
          <p:cNvPr id="7" name="Text 4"/>
          <p:cNvSpPr/>
          <p:nvPr/>
        </p:nvSpPr>
        <p:spPr>
          <a:xfrm>
            <a:off x="812800" y="5234880"/>
            <a:ext cx="352308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75569"/>
                </a:solidFill>
                <a:latin typeface="Inter" pitchFamily="34" charset="0"/>
                <a:ea typeface="Inter" pitchFamily="34" charset="-122"/>
                <a:cs typeface="Inter" pitchFamily="34" charset="-120"/>
              </a:rPr>
              <a:t>Online subscribers over time, per POP.</a:t>
            </a:r>
            <a:endParaRPr lang="en-US" sz="1300" dirty="0"/>
          </a:p>
        </p:txBody>
      </p:sp>
      <p:sp>
        <p:nvSpPr>
          <p:cNvPr id="8" name="Text 5"/>
          <p:cNvSpPr/>
          <p:nvPr/>
        </p:nvSpPr>
        <p:spPr>
          <a:xfrm>
            <a:off x="4385667" y="4940300"/>
            <a:ext cx="352318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4BCC"/>
                </a:solidFill>
                <a:latin typeface="Inter" pitchFamily="34" charset="0"/>
                <a:ea typeface="Inter" pitchFamily="34" charset="-122"/>
                <a:cs typeface="Inter" pitchFamily="34" charset="-120"/>
              </a:rPr>
              <a:t>Mass-outage detection</a:t>
            </a:r>
            <a:endParaRPr lang="en-US" sz="1600" dirty="0"/>
          </a:p>
        </p:txBody>
      </p:sp>
      <p:sp>
        <p:nvSpPr>
          <p:cNvPr id="9" name="Text 6"/>
          <p:cNvSpPr/>
          <p:nvPr/>
        </p:nvSpPr>
        <p:spPr>
          <a:xfrm>
            <a:off x="4385667" y="5234880"/>
            <a:ext cx="352318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75569"/>
                </a:solidFill>
                <a:latin typeface="Inter" pitchFamily="34" charset="0"/>
                <a:ea typeface="Inter" pitchFamily="34" charset="-122"/>
                <a:cs typeface="Inter" pitchFamily="34" charset="-120"/>
              </a:rPr>
              <a:t>A sudden drop per POP or router is flagged at once.</a:t>
            </a:r>
            <a:endParaRPr lang="en-US" sz="1300" dirty="0"/>
          </a:p>
        </p:txBody>
      </p:sp>
      <p:sp>
        <p:nvSpPr>
          <p:cNvPr id="10" name="Text 7"/>
          <p:cNvSpPr/>
          <p:nvPr/>
        </p:nvSpPr>
        <p:spPr>
          <a:xfrm>
            <a:off x="7958634" y="4940300"/>
            <a:ext cx="352318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4BCC"/>
                </a:solidFill>
                <a:latin typeface="Inter" pitchFamily="34" charset="0"/>
                <a:ea typeface="Inter" pitchFamily="34" charset="-122"/>
                <a:cs typeface="Inter" pitchFamily="34" charset="-120"/>
              </a:rPr>
              <a:t>Why they dropped</a:t>
            </a:r>
            <a:endParaRPr lang="en-US" sz="1600" dirty="0"/>
          </a:p>
        </p:txBody>
      </p:sp>
      <p:sp>
        <p:nvSpPr>
          <p:cNvPr id="11" name="Text 8"/>
          <p:cNvSpPr/>
          <p:nvPr/>
        </p:nvSpPr>
        <p:spPr>
          <a:xfrm>
            <a:off x="7958634" y="5234880"/>
            <a:ext cx="352318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75569"/>
                </a:solidFill>
                <a:latin typeface="Inter" pitchFamily="34" charset="0"/>
                <a:ea typeface="Inter" pitchFamily="34" charset="-122"/>
                <a:cs typeface="Inter" pitchFamily="34" charset="-120"/>
              </a:rPr>
              <a:t>Disconnect reasons and the most-flapping subscribers.</a:t>
            </a:r>
            <a:endParaRPr lang="en-US" sz="1300" dirty="0"/>
          </a:p>
        </p:txBody>
      </p:sp>
      <p:sp>
        <p:nvSpPr>
          <p:cNvPr id="12" name="Text 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13" name="Image 1" descr="Officetech">    </p:cNvPr>
          <p:cNvPicPr>
            <a:picLocks noChangeAspect="1"/>
          </p:cNvPicPr>
          <p:nvPr/>
        </p:nvPicPr>
        <p:blipFill>
          <a:blip r:embed="rId2"/>
          <a:srcRect l="-105" r="-105" t="0" b="0"/>
          <a:stretch/>
        </p:blipFill>
        <p:spPr>
          <a:xfrm>
            <a:off x="10452100" y="6273800"/>
            <a:ext cx="927100" cy="279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12800" y="812800"/>
            <a:ext cx="9810750" cy="103108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1F5F9"/>
                </a:solidFill>
                <a:latin typeface="Inter" pitchFamily="34" charset="0"/>
                <a:ea typeface="Inter" pitchFamily="34" charset="-122"/>
                <a:cs typeface="Inter" pitchFamily="34" charset="-120"/>
              </a:rPr>
              <a:t>Live walkthrough: from alert to cause in minutes.</a:t>
            </a:r>
            <a:endParaRPr lang="en-US" sz="3600" dirty="0"/>
          </a:p>
        </p:txBody>
      </p:sp>
      <p:sp>
        <p:nvSpPr>
          <p:cNvPr id="3" name="Text 1"/>
          <p:cNvSpPr/>
          <p:nvPr/>
        </p:nvSpPr>
        <p:spPr>
          <a:xfrm>
            <a:off x="815975" y="2543175"/>
            <a:ext cx="6906716" cy="3295650"/>
          </a:xfrm>
          <a:prstGeom prst="roundRect">
            <a:avLst>
              <a:gd name="adj" fmla="val 2987"/>
            </a:avLst>
          </a:prstGeom>
          <a:solidFill>
            <a:srgbClr val="0B1119"/>
          </a:solidFill>
          <a:ln w="6350">
            <a:solidFill>
              <a:srgbClr val="334155"/>
            </a:solidFill>
            <a:prstDash val="solid"/>
          </a:ln>
        </p:spPr>
        <p:txBody>
          <a:bodyPr wrap="square" lIns="0" tIns="0" rIns="0" bIns="0" rtlCol="0" anchor="ctr">
            <a:normAutofit/>
          </a:bodyPr>
          <a:lstStyle/>
          <a:p>
            <a:pPr algn="ctr" indent="0" marL="0">
              <a:lnSpc>
                <a:spcPts val="3080"/>
              </a:lnSpc>
              <a:buNone/>
            </a:pPr>
            <a:r>
              <a:rPr lang="en-US" sz="2200" b="1" dirty="0">
                <a:solidFill>
                  <a:srgbClr val="BFD4FF"/>
                </a:solidFill>
                <a:latin typeface="Inter" pitchFamily="34" charset="0"/>
                <a:ea typeface="Inter" pitchFamily="34" charset="-122"/>
                <a:cs typeface="Inter" pitchFamily="34" charset="-120"/>
              </a:rPr>
              <a:t>[Insert screen recording]</a:t>
            </a:r>
            <a:endParaRPr lang="en-US" sz="2200" dirty="0"/>
          </a:p>
        </p:txBody>
      </p:sp>
      <p:sp>
        <p:nvSpPr>
          <p:cNvPr id="4" name="Text 2"/>
          <p:cNvSpPr/>
          <p:nvPr/>
        </p:nvSpPr>
        <p:spPr>
          <a:xfrm>
            <a:off x="7929066" y="3467100"/>
            <a:ext cx="355363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FA8FF"/>
                </a:solidFill>
                <a:latin typeface="Inter" pitchFamily="34" charset="0"/>
                <a:ea typeface="Inter" pitchFamily="34" charset="-122"/>
                <a:cs typeface="Inter" pitchFamily="34" charset="-120"/>
              </a:rPr>
              <a:t>1</a:t>
            </a:r>
            <a:r>
              <a:rPr lang="en-US" sz="1500" dirty="0">
                <a:solidFill>
                  <a:srgbClr val="E2E8F0"/>
                </a:solidFill>
                <a:latin typeface="Inter" pitchFamily="34" charset="0"/>
                <a:ea typeface="Inter" pitchFamily="34" charset="-122"/>
                <a:cs typeface="Inter" pitchFamily="34" charset="-120"/>
              </a:rPr>
              <a:t>  Telegram alert arrives</a:t>
            </a:r>
            <a:endParaRPr lang="en-US" sz="1500" dirty="0"/>
          </a:p>
        </p:txBody>
      </p:sp>
      <p:sp>
        <p:nvSpPr>
          <p:cNvPr id="5" name="Text 3"/>
          <p:cNvSpPr/>
          <p:nvPr/>
        </p:nvSpPr>
        <p:spPr>
          <a:xfrm>
            <a:off x="7929066" y="3860800"/>
            <a:ext cx="355363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FA8FF"/>
                </a:solidFill>
                <a:latin typeface="Inter" pitchFamily="34" charset="0"/>
                <a:ea typeface="Inter" pitchFamily="34" charset="-122"/>
                <a:cs typeface="Inter" pitchFamily="34" charset="-120"/>
              </a:rPr>
              <a:t>2</a:t>
            </a:r>
            <a:r>
              <a:rPr lang="en-US" sz="1500" dirty="0">
                <a:solidFill>
                  <a:srgbClr val="E2E8F0"/>
                </a:solidFill>
                <a:latin typeface="Inter" pitchFamily="34" charset="0"/>
                <a:ea typeface="Inter" pitchFamily="34" charset="-122"/>
                <a:cs typeface="Inter" pitchFamily="34" charset="-120"/>
              </a:rPr>
              <a:t>  Open NOC Overview</a:t>
            </a:r>
            <a:endParaRPr lang="en-US" sz="1500" dirty="0"/>
          </a:p>
        </p:txBody>
      </p:sp>
      <p:sp>
        <p:nvSpPr>
          <p:cNvPr id="6" name="Text 4"/>
          <p:cNvSpPr/>
          <p:nvPr/>
        </p:nvSpPr>
        <p:spPr>
          <a:xfrm>
            <a:off x="7929066" y="4254500"/>
            <a:ext cx="355363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FA8FF"/>
                </a:solidFill>
                <a:latin typeface="Inter" pitchFamily="34" charset="0"/>
                <a:ea typeface="Inter" pitchFamily="34" charset="-122"/>
                <a:cs typeface="Inter" pitchFamily="34" charset="-120"/>
              </a:rPr>
              <a:t>3</a:t>
            </a:r>
            <a:r>
              <a:rPr lang="en-US" sz="1500" dirty="0">
                <a:solidFill>
                  <a:srgbClr val="E2E8F0"/>
                </a:solidFill>
                <a:latin typeface="Inter" pitchFamily="34" charset="0"/>
                <a:ea typeface="Inter" pitchFamily="34" charset="-122"/>
                <a:cs typeface="Inter" pitchFamily="34" charset="-120"/>
              </a:rPr>
              <a:t>  Click through to the link</a:t>
            </a:r>
            <a:endParaRPr lang="en-US" sz="1500" dirty="0"/>
          </a:p>
        </p:txBody>
      </p:sp>
      <p:sp>
        <p:nvSpPr>
          <p:cNvPr id="7" name="Text 5"/>
          <p:cNvSpPr/>
          <p:nvPr/>
        </p:nvSpPr>
        <p:spPr>
          <a:xfrm>
            <a:off x="7929066" y="4648200"/>
            <a:ext cx="355363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FA8FF"/>
                </a:solidFill>
                <a:latin typeface="Inter" pitchFamily="34" charset="0"/>
                <a:ea typeface="Inter" pitchFamily="34" charset="-122"/>
                <a:cs typeface="Inter" pitchFamily="34" charset="-120"/>
              </a:rPr>
              <a:t>4</a:t>
            </a:r>
            <a:r>
              <a:rPr lang="en-US" sz="1500" dirty="0">
                <a:solidFill>
                  <a:srgbClr val="E2E8F0"/>
                </a:solidFill>
                <a:latin typeface="Inter" pitchFamily="34" charset="0"/>
                <a:ea typeface="Inter" pitchFamily="34" charset="-122"/>
                <a:cs typeface="Inter" pitchFamily="34" charset="-120"/>
              </a:rPr>
              <a:t>  Drill into the sector and CPE</a:t>
            </a:r>
            <a:endParaRPr lang="en-US" sz="1500" dirty="0"/>
          </a:p>
        </p:txBody>
      </p:sp>
      <p:sp>
        <p:nvSpPr>
          <p:cNvPr id="8" name="Text 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4A3B8"/>
                </a:solidFill>
                <a:latin typeface="Inter" pitchFamily="34" charset="0"/>
                <a:ea typeface="Inter" pitchFamily="34" charset="-122"/>
                <a:cs typeface="Inter" pitchFamily="34" charset="-120"/>
              </a:rPr>
              <a:t>ISP Network Observability Platform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812800" y="812800"/>
            <a:ext cx="981075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20817"/>
                </a:solidFill>
                <a:latin typeface="Inter" pitchFamily="34" charset="0"/>
                <a:ea typeface="Inter" pitchFamily="34" charset="-122"/>
                <a:cs typeface="Inter" pitchFamily="34" charset="-120"/>
              </a:rPr>
              <a:t>One failure, one message.</a:t>
            </a:r>
            <a:endParaRPr lang="en-US" sz="3600" dirty="0"/>
          </a:p>
        </p:txBody>
      </p:sp>
      <p:sp>
        <p:nvSpPr>
          <p:cNvPr id="3" name="Shape 1"/>
          <p:cNvSpPr/>
          <p:nvPr/>
        </p:nvSpPr>
        <p:spPr>
          <a:xfrm>
            <a:off x="815975" y="1819275"/>
            <a:ext cx="2749550" cy="4019550"/>
          </a:xfrm>
          <a:prstGeom prst="roundRect">
            <a:avLst>
              <a:gd name="adj" fmla="val 3580"/>
            </a:avLst>
          </a:prstGeom>
          <a:solidFill>
            <a:srgbClr val="FFFFFF"/>
          </a:solidFill>
          <a:ln w="6350">
            <a:solidFill>
              <a:srgbClr val="E2E8F0"/>
            </a:solidFill>
            <a:prstDash val="solid"/>
          </a:ln>
        </p:spPr>
      </p:sp>
      <p:sp>
        <p:nvSpPr>
          <p:cNvPr id="4" name="Text 2"/>
          <p:cNvSpPr/>
          <p:nvPr/>
        </p:nvSpPr>
        <p:spPr>
          <a:xfrm>
            <a:off x="1073150" y="2076450"/>
            <a:ext cx="230225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A4BCC"/>
                </a:solidFill>
                <a:latin typeface="Inter" pitchFamily="34" charset="0"/>
                <a:ea typeface="Inter" pitchFamily="34" charset="-122"/>
                <a:cs typeface="Inter" pitchFamily="34" charset="-120"/>
              </a:rPr>
              <a:t>2</a:t>
            </a:r>
            <a:endParaRPr lang="en-US" sz="6000" dirty="0"/>
          </a:p>
        </p:txBody>
      </p:sp>
      <p:sp>
        <p:nvSpPr>
          <p:cNvPr id="5" name="Text 3"/>
          <p:cNvSpPr/>
          <p:nvPr/>
        </p:nvSpPr>
        <p:spPr>
          <a:xfrm>
            <a:off x="1073150" y="2940050"/>
            <a:ext cx="2302256" cy="848122"/>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Telegram messages for a whole link outage</a:t>
            </a:r>
            <a:endParaRPr lang="en-US" sz="1800" dirty="0"/>
          </a:p>
        </p:txBody>
      </p:sp>
      <p:sp>
        <p:nvSpPr>
          <p:cNvPr id="6" name="Text 4"/>
          <p:cNvSpPr/>
          <p:nvPr/>
        </p:nvSpPr>
        <p:spPr>
          <a:xfrm>
            <a:off x="1073150" y="3864372"/>
            <a:ext cx="230225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One when it fails, one when it recovers.</a:t>
            </a:r>
            <a:endParaRPr lang="en-US" sz="1400" dirty="0"/>
          </a:p>
        </p:txBody>
      </p:sp>
      <p:sp>
        <p:nvSpPr>
          <p:cNvPr id="7" name="Shape 5"/>
          <p:cNvSpPr/>
          <p:nvPr/>
        </p:nvSpPr>
        <p:spPr>
          <a:xfrm>
            <a:off x="3775075" y="1819275"/>
            <a:ext cx="4984750" cy="4019550"/>
          </a:xfrm>
          <a:prstGeom prst="roundRect">
            <a:avLst>
              <a:gd name="adj" fmla="val 2449"/>
            </a:avLst>
          </a:prstGeom>
          <a:solidFill>
            <a:srgbClr val="FFFFFF"/>
          </a:solidFill>
          <a:ln w="6350">
            <a:solidFill>
              <a:srgbClr val="E2E8F0"/>
            </a:solidFill>
            <a:prstDash val="solid"/>
          </a:ln>
        </p:spPr>
      </p:sp>
      <p:sp>
        <p:nvSpPr>
          <p:cNvPr id="8" name="Text 6"/>
          <p:cNvSpPr/>
          <p:nvPr/>
        </p:nvSpPr>
        <p:spPr>
          <a:xfrm>
            <a:off x="4032250" y="2103239"/>
            <a:ext cx="46045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Dependency-aware</a:t>
            </a:r>
            <a:endParaRPr lang="en-US" sz="1800" dirty="0"/>
          </a:p>
        </p:txBody>
      </p:sp>
      <p:sp>
        <p:nvSpPr>
          <p:cNvPr id="9" name="Text 7"/>
          <p:cNvSpPr/>
          <p:nvPr/>
        </p:nvSpPr>
        <p:spPr>
          <a:xfrm>
            <a:off x="4032250" y="2529880"/>
            <a:ext cx="46045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5569"/>
                </a:solidFill>
                <a:latin typeface="Inter" pitchFamily="34" charset="0"/>
                <a:ea typeface="Inter" pitchFamily="34" charset="-122"/>
                <a:cs typeface="Inter" pitchFamily="34" charset="-120"/>
              </a:rPr>
              <a:t>If a POP's router or backhaul is down, every sector behind it is marked unreachable, not alarmed separately.</a:t>
            </a:r>
            <a:endParaRPr lang="en-US" sz="1500" dirty="0"/>
          </a:p>
        </p:txBody>
      </p:sp>
      <p:sp>
        <p:nvSpPr>
          <p:cNvPr id="10" name="Text 8"/>
          <p:cNvSpPr/>
          <p:nvPr/>
        </p:nvSpPr>
        <p:spPr>
          <a:xfrm>
            <a:off x="4032250" y="3482380"/>
            <a:ext cx="46045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Symptoms suppressed</a:t>
            </a:r>
            <a:endParaRPr lang="en-US" sz="1800" dirty="0"/>
          </a:p>
        </p:txBody>
      </p:sp>
      <p:sp>
        <p:nvSpPr>
          <p:cNvPr id="11" name="Text 9"/>
          <p:cNvSpPr/>
          <p:nvPr/>
        </p:nvSpPr>
        <p:spPr>
          <a:xfrm>
            <a:off x="4032250" y="3909020"/>
            <a:ext cx="460451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5569"/>
                </a:solidFill>
                <a:latin typeface="Inter" pitchFamily="34" charset="0"/>
                <a:ea typeface="Inter" pitchFamily="34" charset="-122"/>
                <a:cs typeface="Inter" pitchFamily="34" charset="-120"/>
              </a:rPr>
              <a:t>When a link is down, its signal, loss and error alerts stay quiet. You see the cause only.</a:t>
            </a:r>
            <a:endParaRPr lang="en-US" sz="1500" dirty="0"/>
          </a:p>
        </p:txBody>
      </p:sp>
      <p:sp>
        <p:nvSpPr>
          <p:cNvPr id="12" name="Text 10"/>
          <p:cNvSpPr/>
          <p:nvPr/>
        </p:nvSpPr>
        <p:spPr>
          <a:xfrm>
            <a:off x="4032250" y="4594820"/>
            <a:ext cx="46045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Knows when it cannot see</a:t>
            </a:r>
            <a:endParaRPr lang="en-US" sz="1800" dirty="0"/>
          </a:p>
        </p:txBody>
      </p:sp>
      <p:sp>
        <p:nvSpPr>
          <p:cNvPr id="13" name="Text 11"/>
          <p:cNvSpPr/>
          <p:nvPr/>
        </p:nvSpPr>
        <p:spPr>
          <a:xfrm>
            <a:off x="4032250" y="5021461"/>
            <a:ext cx="460451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5569"/>
                </a:solidFill>
                <a:latin typeface="Inter" pitchFamily="34" charset="0"/>
                <a:ea typeface="Inter" pitchFamily="34" charset="-122"/>
                <a:cs typeface="Inter" pitchFamily="34" charset="-120"/>
              </a:rPr>
              <a:t>If the monitoring server loses its own network, one alert says so and the rest stay quiet.</a:t>
            </a:r>
            <a:endParaRPr lang="en-US" sz="1500" dirty="0"/>
          </a:p>
        </p:txBody>
      </p:sp>
      <p:pic>
        <p:nvPicPr>
          <p:cNvPr id="14" name="Image 0" descr="Telegram alert messages for degraded and critical links and a degraded sector">    </p:cNvPr>
          <p:cNvPicPr>
            <a:picLocks noChangeAspect="1"/>
          </p:cNvPicPr>
          <p:nvPr/>
        </p:nvPicPr>
        <p:blipFill>
          <a:blip r:embed="rId1"/>
          <a:srcRect l="0" r="0" t="-87" b="-87"/>
          <a:stretch/>
        </p:blipFill>
        <p:spPr>
          <a:xfrm>
            <a:off x="8972550" y="1822450"/>
            <a:ext cx="2400300" cy="4013200"/>
          </a:xfrm>
          <a:prstGeom prst="roundRect">
            <a:avLst>
              <a:gd name="adj" fmla="val 2910"/>
            </a:avLst>
          </a:prstGeom>
        </p:spPr>
      </p:pic>
      <p:sp>
        <p:nvSpPr>
          <p:cNvPr id="15" name="Shape 12"/>
          <p:cNvSpPr/>
          <p:nvPr/>
        </p:nvSpPr>
        <p:spPr>
          <a:xfrm>
            <a:off x="8969375" y="1819275"/>
            <a:ext cx="2406650" cy="4019550"/>
          </a:xfrm>
          <a:prstGeom prst="roundRect">
            <a:avLst>
              <a:gd name="adj" fmla="val 3034"/>
            </a:avLst>
          </a:prstGeom>
          <a:noFill/>
          <a:ln w="6350">
            <a:solidFill>
              <a:srgbClr val="E2E8F0"/>
            </a:solidFill>
            <a:prstDash val="solid"/>
          </a:ln>
        </p:spPr>
      </p:sp>
      <p:sp>
        <p:nvSpPr>
          <p:cNvPr id="16" name="Text 1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17" name="Image 1" descr="Officetech">    </p:cNvPr>
          <p:cNvPicPr>
            <a:picLocks noChangeAspect="1"/>
          </p:cNvPicPr>
          <p:nvPr/>
        </p:nvPicPr>
        <p:blipFill>
          <a:blip r:embed="rId2"/>
          <a:srcRect l="-105" r="-105" t="0" b="0"/>
          <a:stretch/>
        </p:blipFill>
        <p:spPr>
          <a:xfrm>
            <a:off x="10452100" y="6273800"/>
            <a:ext cx="927100" cy="279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981075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20817"/>
                </a:solidFill>
                <a:latin typeface="Inter" pitchFamily="34" charset="0"/>
                <a:ea typeface="Inter" pitchFamily="34" charset="-122"/>
                <a:cs typeface="Inter" pitchFamily="34" charset="-120"/>
              </a:rPr>
              <a:t>It also catches what slowly goes wrong.</a:t>
            </a:r>
            <a:endParaRPr lang="en-US" sz="3600" dirty="0"/>
          </a:p>
        </p:txBody>
      </p:sp>
      <p:sp>
        <p:nvSpPr>
          <p:cNvPr id="3" name="Shape 1"/>
          <p:cNvSpPr/>
          <p:nvPr/>
        </p:nvSpPr>
        <p:spPr>
          <a:xfrm>
            <a:off x="815975" y="4034234"/>
            <a:ext cx="3380284" cy="1804591"/>
          </a:xfrm>
          <a:prstGeom prst="roundRect">
            <a:avLst>
              <a:gd name="adj" fmla="val 5454"/>
            </a:avLst>
          </a:prstGeom>
          <a:solidFill>
            <a:srgbClr val="F1F5F9"/>
          </a:solidFill>
          <a:ln w="6350">
            <a:solidFill>
              <a:srgbClr val="E2E8F0"/>
            </a:solidFill>
            <a:prstDash val="solid"/>
          </a:ln>
        </p:spPr>
      </p:sp>
      <p:sp>
        <p:nvSpPr>
          <p:cNvPr id="4" name="Text 2"/>
          <p:cNvSpPr/>
          <p:nvPr/>
        </p:nvSpPr>
        <p:spPr>
          <a:xfrm>
            <a:off x="1073150" y="4291409"/>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A4BCC"/>
                </a:solidFill>
                <a:latin typeface="Inter" pitchFamily="34" charset="0"/>
                <a:ea typeface="Inter" pitchFamily="34" charset="-122"/>
                <a:cs typeface="Inter" pitchFamily="34" charset="-120"/>
              </a:rPr>
              <a:t>Compared to itself</a:t>
            </a:r>
            <a:endParaRPr lang="en-US" sz="2200" dirty="0"/>
          </a:p>
        </p:txBody>
      </p:sp>
      <p:sp>
        <p:nvSpPr>
          <p:cNvPr id="5" name="Text 3"/>
          <p:cNvSpPr/>
          <p:nvPr/>
        </p:nvSpPr>
        <p:spPr>
          <a:xfrm>
            <a:off x="1073150" y="4728270"/>
            <a:ext cx="295191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Inter" pitchFamily="34" charset="0"/>
                <a:ea typeface="Inter" pitchFamily="34" charset="-122"/>
                <a:cs typeface="Inter" pitchFamily="34" charset="-120"/>
              </a:rPr>
              <a:t>Each metric is judged against its own recent baseline, not one fixed threshold.</a:t>
            </a:r>
            <a:endParaRPr lang="en-US" sz="1600" dirty="0"/>
          </a:p>
        </p:txBody>
      </p:sp>
      <p:sp>
        <p:nvSpPr>
          <p:cNvPr id="6" name="Shape 4"/>
          <p:cNvSpPr/>
          <p:nvPr/>
        </p:nvSpPr>
        <p:spPr>
          <a:xfrm>
            <a:off x="4405809" y="4034234"/>
            <a:ext cx="3380383" cy="1804591"/>
          </a:xfrm>
          <a:prstGeom prst="roundRect">
            <a:avLst>
              <a:gd name="adj" fmla="val 5454"/>
            </a:avLst>
          </a:prstGeom>
          <a:solidFill>
            <a:srgbClr val="F1F5F9"/>
          </a:solidFill>
          <a:ln w="6350">
            <a:solidFill>
              <a:srgbClr val="E2E8F0"/>
            </a:solidFill>
            <a:prstDash val="solid"/>
          </a:ln>
        </p:spPr>
      </p:sp>
      <p:sp>
        <p:nvSpPr>
          <p:cNvPr id="7" name="Text 5"/>
          <p:cNvSpPr/>
          <p:nvPr/>
        </p:nvSpPr>
        <p:spPr>
          <a:xfrm>
            <a:off x="4662984" y="4291409"/>
            <a:ext cx="29520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A4BCC"/>
                </a:solidFill>
                <a:latin typeface="Inter" pitchFamily="34" charset="0"/>
                <a:ea typeface="Inter" pitchFamily="34" charset="-122"/>
                <a:cs typeface="Inter" pitchFamily="34" charset="-120"/>
              </a:rPr>
              <a:t>Quiet bleeds</a:t>
            </a:r>
            <a:endParaRPr lang="en-US" sz="2200" dirty="0"/>
          </a:p>
        </p:txBody>
      </p:sp>
      <p:sp>
        <p:nvSpPr>
          <p:cNvPr id="8" name="Text 6"/>
          <p:cNvSpPr/>
          <p:nvPr/>
        </p:nvSpPr>
        <p:spPr>
          <a:xfrm>
            <a:off x="4662984" y="4728270"/>
            <a:ext cx="295201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Inter" pitchFamily="34" charset="0"/>
                <a:ea typeface="Inter" pitchFamily="34" charset="-122"/>
                <a:cs typeface="Inter" pitchFamily="34" charset="-120"/>
              </a:rPr>
              <a:t>A subscriber count that erodes, or router CPU and memory that creep upward.</a:t>
            </a:r>
            <a:endParaRPr lang="en-US" sz="1600" dirty="0"/>
          </a:p>
        </p:txBody>
      </p:sp>
      <p:sp>
        <p:nvSpPr>
          <p:cNvPr id="9" name="Shape 7"/>
          <p:cNvSpPr/>
          <p:nvPr/>
        </p:nvSpPr>
        <p:spPr>
          <a:xfrm>
            <a:off x="7995741" y="4034234"/>
            <a:ext cx="3380284" cy="1804591"/>
          </a:xfrm>
          <a:prstGeom prst="roundRect">
            <a:avLst>
              <a:gd name="adj" fmla="val 5454"/>
            </a:avLst>
          </a:prstGeom>
          <a:solidFill>
            <a:srgbClr val="F1F5F9"/>
          </a:solidFill>
          <a:ln w="6350">
            <a:solidFill>
              <a:srgbClr val="E2E8F0"/>
            </a:solidFill>
            <a:prstDash val="solid"/>
          </a:ln>
        </p:spPr>
      </p:sp>
      <p:sp>
        <p:nvSpPr>
          <p:cNvPr id="10" name="Text 8"/>
          <p:cNvSpPr/>
          <p:nvPr/>
        </p:nvSpPr>
        <p:spPr>
          <a:xfrm>
            <a:off x="8252916" y="4291409"/>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A4BCC"/>
                </a:solidFill>
                <a:latin typeface="Inter" pitchFamily="34" charset="0"/>
                <a:ea typeface="Inter" pitchFamily="34" charset="-122"/>
                <a:cs typeface="Inter" pitchFamily="34" charset="-120"/>
              </a:rPr>
              <a:t>Earlier warning</a:t>
            </a:r>
            <a:endParaRPr lang="en-US" sz="2200" dirty="0"/>
          </a:p>
        </p:txBody>
      </p:sp>
      <p:sp>
        <p:nvSpPr>
          <p:cNvPr id="11" name="Text 9"/>
          <p:cNvSpPr/>
          <p:nvPr/>
        </p:nvSpPr>
        <p:spPr>
          <a:xfrm>
            <a:off x="8252916" y="4728270"/>
            <a:ext cx="29519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Inter" pitchFamily="34" charset="0"/>
                <a:ea typeface="Inter" pitchFamily="34" charset="-122"/>
                <a:cs typeface="Inter" pitchFamily="34" charset="-120"/>
              </a:rPr>
              <a:t>You fix it while customers are still online.</a:t>
            </a:r>
            <a:endParaRPr lang="en-US" sz="1600" dirty="0"/>
          </a:p>
        </p:txBody>
      </p:sp>
      <p:sp>
        <p:nvSpPr>
          <p:cNvPr id="12" name="Text 1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13" name="Image 0" descr="Officetech">    </p:cNvPr>
          <p:cNvPicPr>
            <a:picLocks noChangeAspect="1"/>
          </p:cNvPicPr>
          <p:nvPr/>
        </p:nvPicPr>
        <p:blipFill>
          <a:blip r:embed="rId1"/>
          <a:srcRect l="-105" r="-105" t="0" b="0"/>
          <a:stretch/>
        </p:blipFill>
        <p:spPr>
          <a:xfrm>
            <a:off x="10452100" y="6273800"/>
            <a:ext cx="927100" cy="279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981075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20817"/>
                </a:solidFill>
                <a:latin typeface="Inter" pitchFamily="34" charset="0"/>
                <a:ea typeface="Inter" pitchFamily="34" charset="-122"/>
                <a:cs typeface="Inter" pitchFamily="34" charset="-120"/>
              </a:rPr>
              <a:t>Everything you watch today, and more.</a:t>
            </a:r>
            <a:endParaRPr lang="en-US" sz="3200" dirty="0"/>
          </a:p>
        </p:txBody>
      </p:sp>
      <p:sp>
        <p:nvSpPr>
          <p:cNvPr id="3" name="Shape 1"/>
          <p:cNvSpPr/>
          <p:nvPr/>
        </p:nvSpPr>
        <p:spPr>
          <a:xfrm>
            <a:off x="815975" y="1523305"/>
            <a:ext cx="4749800" cy="1601192"/>
          </a:xfrm>
          <a:prstGeom prst="roundRect">
            <a:avLst>
              <a:gd name="adj" fmla="val 6147"/>
            </a:avLst>
          </a:prstGeom>
          <a:solidFill>
            <a:srgbClr val="F1F5F9"/>
          </a:solidFill>
          <a:ln w="6350">
            <a:solidFill>
              <a:srgbClr val="E2E8F0"/>
            </a:solidFill>
            <a:prstDash val="solid"/>
          </a:ln>
        </p:spPr>
      </p:sp>
      <p:sp>
        <p:nvSpPr>
          <p:cNvPr id="4" name="Text 2"/>
          <p:cNvSpPr/>
          <p:nvPr/>
        </p:nvSpPr>
        <p:spPr>
          <a:xfrm>
            <a:off x="1047750" y="1755080"/>
            <a:ext cx="441483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75569"/>
                </a:solidFill>
                <a:latin typeface="Inter" pitchFamily="34" charset="0"/>
                <a:ea typeface="Inter" pitchFamily="34" charset="-122"/>
                <a:cs typeface="Inter" pitchFamily="34" charset="-120"/>
              </a:rPr>
              <a:t>TODAY</a:t>
            </a:r>
            <a:endParaRPr lang="en-US" sz="1200" dirty="0"/>
          </a:p>
        </p:txBody>
      </p:sp>
      <p:sp>
        <p:nvSpPr>
          <p:cNvPr id="5" name="Text 3"/>
          <p:cNvSpPr/>
          <p:nvPr/>
        </p:nvSpPr>
        <p:spPr>
          <a:xfrm>
            <a:off x="1047750" y="2044601"/>
            <a:ext cx="441483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Ubiquiti monitoring, The Dude, PRTG</a:t>
            </a:r>
            <a:endParaRPr lang="en-US" sz="1800" dirty="0"/>
          </a:p>
        </p:txBody>
      </p:sp>
      <p:sp>
        <p:nvSpPr>
          <p:cNvPr id="6" name="Text 4"/>
          <p:cNvSpPr/>
          <p:nvPr/>
        </p:nvSpPr>
        <p:spPr>
          <a:xfrm>
            <a:off x="1047750" y="2395041"/>
            <a:ext cx="441483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Link and radio status, capacity and device state, spread across separate tools.</a:t>
            </a:r>
            <a:endParaRPr lang="en-US" sz="1400" dirty="0"/>
          </a:p>
        </p:txBody>
      </p:sp>
      <p:pic>
        <p:nvPicPr>
          <p:cNvPr id="7" name="Image 0" descr="arrow-right">    </p:cNvPr>
          <p:cNvPicPr>
            <a:picLocks noChangeAspect="1"/>
          </p:cNvPicPr>
          <p:nvPr/>
        </p:nvPicPr>
        <p:blipFill>
          <a:blip r:embed="rId1"/>
          <a:srcRect l="0" r="0" t="0" b="0"/>
          <a:stretch/>
        </p:blipFill>
        <p:spPr>
          <a:xfrm>
            <a:off x="5772150" y="2146102"/>
            <a:ext cx="635000" cy="355600"/>
          </a:xfrm>
          <a:prstGeom prst="rect">
            <a:avLst/>
          </a:prstGeom>
        </p:spPr>
      </p:pic>
      <p:sp>
        <p:nvSpPr>
          <p:cNvPr id="8" name="Shape 5"/>
          <p:cNvSpPr/>
          <p:nvPr/>
        </p:nvSpPr>
        <p:spPr>
          <a:xfrm>
            <a:off x="6616700" y="1520130"/>
            <a:ext cx="4756150" cy="1607542"/>
          </a:xfrm>
          <a:prstGeom prst="roundRect">
            <a:avLst>
              <a:gd name="adj" fmla="val 5925"/>
            </a:avLst>
          </a:prstGeom>
          <a:solidFill>
            <a:srgbClr val="FFFFFF"/>
          </a:solidFill>
          <a:ln w="12700">
            <a:solidFill>
              <a:srgbClr val="0A4BCC"/>
            </a:solidFill>
            <a:prstDash val="solid"/>
          </a:ln>
        </p:spPr>
      </p:sp>
      <p:sp>
        <p:nvSpPr>
          <p:cNvPr id="9" name="Text 6"/>
          <p:cNvSpPr/>
          <p:nvPr/>
        </p:nvSpPr>
        <p:spPr>
          <a:xfrm>
            <a:off x="6851650" y="1755080"/>
            <a:ext cx="441483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THIS PLATFORM</a:t>
            </a:r>
            <a:endParaRPr lang="en-US" sz="1200" dirty="0"/>
          </a:p>
        </p:txBody>
      </p:sp>
      <p:sp>
        <p:nvSpPr>
          <p:cNvPr id="10" name="Text 7"/>
          <p:cNvSpPr/>
          <p:nvPr/>
        </p:nvSpPr>
        <p:spPr>
          <a:xfrm>
            <a:off x="6851650" y="2044601"/>
            <a:ext cx="441483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All of it, on one screen</a:t>
            </a:r>
            <a:endParaRPr lang="en-US" sz="1800" dirty="0"/>
          </a:p>
        </p:txBody>
      </p:sp>
      <p:sp>
        <p:nvSpPr>
          <p:cNvPr id="11" name="Text 8"/>
          <p:cNvSpPr/>
          <p:nvPr/>
        </p:nvSpPr>
        <p:spPr>
          <a:xfrm>
            <a:off x="6851650" y="2395041"/>
            <a:ext cx="441483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Every radio family and router, with status and capacity side by side.</a:t>
            </a:r>
            <a:endParaRPr lang="en-US" sz="1400" dirty="0"/>
          </a:p>
        </p:txBody>
      </p:sp>
      <p:sp>
        <p:nvSpPr>
          <p:cNvPr id="12" name="Text 9"/>
          <p:cNvSpPr/>
          <p:nvPr/>
        </p:nvSpPr>
        <p:spPr>
          <a:xfrm>
            <a:off x="812800" y="338802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ADDED ON TOP</a:t>
            </a:r>
            <a:endParaRPr lang="en-US" sz="1200" dirty="0"/>
          </a:p>
        </p:txBody>
      </p:sp>
      <p:sp>
        <p:nvSpPr>
          <p:cNvPr id="13" name="Shape 10"/>
          <p:cNvSpPr/>
          <p:nvPr/>
        </p:nvSpPr>
        <p:spPr>
          <a:xfrm>
            <a:off x="815975" y="3858518"/>
            <a:ext cx="2520950" cy="1645047"/>
          </a:xfrm>
          <a:prstGeom prst="roundRect">
            <a:avLst>
              <a:gd name="adj" fmla="val 5983"/>
            </a:avLst>
          </a:prstGeom>
          <a:solidFill>
            <a:srgbClr val="F1F5F9"/>
          </a:solidFill>
          <a:ln w="6350">
            <a:solidFill>
              <a:srgbClr val="E2E8F0"/>
            </a:solidFill>
            <a:prstDash val="solid"/>
          </a:ln>
        </p:spPr>
      </p:sp>
      <p:sp>
        <p:nvSpPr>
          <p:cNvPr id="14" name="Text 11"/>
          <p:cNvSpPr/>
          <p:nvPr/>
        </p:nvSpPr>
        <p:spPr>
          <a:xfrm>
            <a:off x="1022350" y="4064893"/>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4BCC"/>
                </a:solidFill>
                <a:latin typeface="Inter" pitchFamily="34" charset="0"/>
                <a:ea typeface="Inter" pitchFamily="34" charset="-122"/>
                <a:cs typeface="Inter" pitchFamily="34" charset="-120"/>
              </a:rPr>
              <a:t>History</a:t>
            </a:r>
            <a:endParaRPr lang="en-US" sz="1600" dirty="0"/>
          </a:p>
        </p:txBody>
      </p:sp>
      <p:sp>
        <p:nvSpPr>
          <p:cNvPr id="15" name="Text 12"/>
          <p:cNvSpPr/>
          <p:nvPr/>
        </p:nvSpPr>
        <p:spPr>
          <a:xfrm>
            <a:off x="1022350" y="4384873"/>
            <a:ext cx="217144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75569"/>
                </a:solidFill>
                <a:latin typeface="Inter" pitchFamily="34" charset="0"/>
                <a:ea typeface="Inter" pitchFamily="34" charset="-122"/>
                <a:cs typeface="Inter" pitchFamily="34" charset="-120"/>
              </a:rPr>
              <a:t>Trends over time, so you see what changed and when.</a:t>
            </a:r>
            <a:endParaRPr lang="en-US" sz="1300" dirty="0"/>
          </a:p>
        </p:txBody>
      </p:sp>
      <p:sp>
        <p:nvSpPr>
          <p:cNvPr id="16" name="Shape 13"/>
          <p:cNvSpPr/>
          <p:nvPr/>
        </p:nvSpPr>
        <p:spPr>
          <a:xfrm>
            <a:off x="3495675" y="3858518"/>
            <a:ext cx="2520950" cy="1645047"/>
          </a:xfrm>
          <a:prstGeom prst="roundRect">
            <a:avLst>
              <a:gd name="adj" fmla="val 5983"/>
            </a:avLst>
          </a:prstGeom>
          <a:solidFill>
            <a:srgbClr val="F1F5F9"/>
          </a:solidFill>
          <a:ln w="6350">
            <a:solidFill>
              <a:srgbClr val="E2E8F0"/>
            </a:solidFill>
            <a:prstDash val="solid"/>
          </a:ln>
        </p:spPr>
      </p:sp>
      <p:sp>
        <p:nvSpPr>
          <p:cNvPr id="17" name="Text 14"/>
          <p:cNvSpPr/>
          <p:nvPr/>
        </p:nvSpPr>
        <p:spPr>
          <a:xfrm>
            <a:off x="3702050" y="4064893"/>
            <a:ext cx="2171446"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4BCC"/>
                </a:solidFill>
                <a:latin typeface="Inter" pitchFamily="34" charset="0"/>
                <a:ea typeface="Inter" pitchFamily="34" charset="-122"/>
                <a:cs typeface="Inter" pitchFamily="34" charset="-120"/>
              </a:rPr>
              <a:t>CPE and subscriber depth</a:t>
            </a:r>
            <a:endParaRPr lang="en-US" sz="1600" dirty="0"/>
          </a:p>
        </p:txBody>
      </p:sp>
      <p:sp>
        <p:nvSpPr>
          <p:cNvPr id="18" name="Text 15"/>
          <p:cNvSpPr/>
          <p:nvPr/>
        </p:nvSpPr>
        <p:spPr>
          <a:xfrm>
            <a:off x="3702050" y="4628654"/>
            <a:ext cx="217144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75569"/>
                </a:solidFill>
                <a:latin typeface="Inter" pitchFamily="34" charset="0"/>
                <a:ea typeface="Inter" pitchFamily="34" charset="-122"/>
                <a:cs typeface="Inter" pitchFamily="34" charset="-120"/>
              </a:rPr>
              <a:t>Signal per CPE and PPPoE sessions, not just the radio.</a:t>
            </a:r>
            <a:endParaRPr lang="en-US" sz="1300" dirty="0"/>
          </a:p>
        </p:txBody>
      </p:sp>
      <p:sp>
        <p:nvSpPr>
          <p:cNvPr id="19" name="Shape 16"/>
          <p:cNvSpPr/>
          <p:nvPr/>
        </p:nvSpPr>
        <p:spPr>
          <a:xfrm>
            <a:off x="6175375" y="3858518"/>
            <a:ext cx="2520950" cy="1645047"/>
          </a:xfrm>
          <a:prstGeom prst="roundRect">
            <a:avLst>
              <a:gd name="adj" fmla="val 5983"/>
            </a:avLst>
          </a:prstGeom>
          <a:solidFill>
            <a:srgbClr val="F1F5F9"/>
          </a:solidFill>
          <a:ln w="6350">
            <a:solidFill>
              <a:srgbClr val="E2E8F0"/>
            </a:solidFill>
            <a:prstDash val="solid"/>
          </a:ln>
        </p:spPr>
      </p:sp>
      <p:sp>
        <p:nvSpPr>
          <p:cNvPr id="20" name="Text 17"/>
          <p:cNvSpPr/>
          <p:nvPr/>
        </p:nvSpPr>
        <p:spPr>
          <a:xfrm>
            <a:off x="6381750" y="4064893"/>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4BCC"/>
                </a:solidFill>
                <a:latin typeface="Inter" pitchFamily="34" charset="0"/>
                <a:ea typeface="Inter" pitchFamily="34" charset="-122"/>
                <a:cs typeface="Inter" pitchFamily="34" charset="-120"/>
              </a:rPr>
              <a:t>Alerts with a cause</a:t>
            </a:r>
            <a:endParaRPr lang="en-US" sz="1600" dirty="0"/>
          </a:p>
        </p:txBody>
      </p:sp>
      <p:sp>
        <p:nvSpPr>
          <p:cNvPr id="21" name="Text 18"/>
          <p:cNvSpPr/>
          <p:nvPr/>
        </p:nvSpPr>
        <p:spPr>
          <a:xfrm>
            <a:off x="6381750" y="4384873"/>
            <a:ext cx="217144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75569"/>
                </a:solidFill>
                <a:latin typeface="Inter" pitchFamily="34" charset="0"/>
                <a:ea typeface="Inter" pitchFamily="34" charset="-122"/>
                <a:cs typeface="Inter" pitchFamily="34" charset="-120"/>
              </a:rPr>
              <a:t>One message per failure. Symptoms behind a down link stay quiet.</a:t>
            </a:r>
            <a:endParaRPr lang="en-US" sz="1300" dirty="0"/>
          </a:p>
        </p:txBody>
      </p:sp>
      <p:sp>
        <p:nvSpPr>
          <p:cNvPr id="22" name="Shape 19"/>
          <p:cNvSpPr/>
          <p:nvPr/>
        </p:nvSpPr>
        <p:spPr>
          <a:xfrm>
            <a:off x="8855075" y="3858518"/>
            <a:ext cx="2520950" cy="1645047"/>
          </a:xfrm>
          <a:prstGeom prst="roundRect">
            <a:avLst>
              <a:gd name="adj" fmla="val 5983"/>
            </a:avLst>
          </a:prstGeom>
          <a:solidFill>
            <a:srgbClr val="F1F5F9"/>
          </a:solidFill>
          <a:ln w="6350">
            <a:solidFill>
              <a:srgbClr val="E2E8F0"/>
            </a:solidFill>
            <a:prstDash val="solid"/>
          </a:ln>
        </p:spPr>
      </p:sp>
      <p:sp>
        <p:nvSpPr>
          <p:cNvPr id="23" name="Text 20"/>
          <p:cNvSpPr/>
          <p:nvPr/>
        </p:nvSpPr>
        <p:spPr>
          <a:xfrm>
            <a:off x="9061450" y="4064893"/>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4BCC"/>
                </a:solidFill>
                <a:latin typeface="Inter" pitchFamily="34" charset="0"/>
                <a:ea typeface="Inter" pitchFamily="34" charset="-122"/>
                <a:cs typeface="Inter" pitchFamily="34" charset="-120"/>
              </a:rPr>
              <a:t>Early warning</a:t>
            </a:r>
            <a:endParaRPr lang="en-US" sz="1600" dirty="0"/>
          </a:p>
        </p:txBody>
      </p:sp>
      <p:sp>
        <p:nvSpPr>
          <p:cNvPr id="24" name="Text 21"/>
          <p:cNvSpPr/>
          <p:nvPr/>
        </p:nvSpPr>
        <p:spPr>
          <a:xfrm>
            <a:off x="9061450" y="4384873"/>
            <a:ext cx="217144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75569"/>
                </a:solidFill>
                <a:latin typeface="Inter" pitchFamily="34" charset="0"/>
                <a:ea typeface="Inter" pitchFamily="34" charset="-122"/>
                <a:cs typeface="Inter" pitchFamily="34" charset="-120"/>
              </a:rPr>
              <a:t>Slow decay caught against a normal baseline.</a:t>
            </a:r>
            <a:endParaRPr lang="en-US" sz="1300" dirty="0"/>
          </a:p>
        </p:txBody>
      </p:sp>
      <p:sp>
        <p:nvSpPr>
          <p:cNvPr id="25" name="Text 2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26" name="Image 1" descr="Officetech">    </p:cNvPr>
          <p:cNvPicPr>
            <a:picLocks noChangeAspect="1"/>
          </p:cNvPicPr>
          <p:nvPr/>
        </p:nvPicPr>
        <p:blipFill>
          <a:blip r:embed="rId2"/>
          <a:srcRect l="-105" r="-105" t="0" b="0"/>
          <a:stretch/>
        </p:blipFill>
        <p:spPr>
          <a:xfrm>
            <a:off x="10452100" y="6273800"/>
            <a:ext cx="927100" cy="279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812800" y="812800"/>
            <a:ext cx="9810750" cy="103108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20817"/>
                </a:solidFill>
                <a:latin typeface="Inter" pitchFamily="34" charset="0"/>
                <a:ea typeface="Inter" pitchFamily="34" charset="-122"/>
                <a:cs typeface="Inter" pitchFamily="34" charset="-120"/>
              </a:rPr>
              <a:t>Already running in our lab, on real equipment.</a:t>
            </a:r>
            <a:endParaRPr lang="en-US" sz="3600" dirty="0"/>
          </a:p>
        </p:txBody>
      </p:sp>
      <p:sp>
        <p:nvSpPr>
          <p:cNvPr id="3" name="Shape 1"/>
          <p:cNvSpPr/>
          <p:nvPr/>
        </p:nvSpPr>
        <p:spPr>
          <a:xfrm>
            <a:off x="815975" y="3592513"/>
            <a:ext cx="2520950" cy="2246313"/>
          </a:xfrm>
          <a:prstGeom prst="roundRect">
            <a:avLst>
              <a:gd name="adj" fmla="val 4382"/>
            </a:avLst>
          </a:prstGeom>
          <a:solidFill>
            <a:srgbClr val="FFFFFF"/>
          </a:solidFill>
          <a:ln w="6350">
            <a:solidFill>
              <a:srgbClr val="E2E8F0"/>
            </a:solidFill>
            <a:prstDash val="solid"/>
          </a:ln>
        </p:spPr>
      </p:sp>
      <p:sp>
        <p:nvSpPr>
          <p:cNvPr id="4" name="Text 2"/>
          <p:cNvSpPr/>
          <p:nvPr/>
        </p:nvSpPr>
        <p:spPr>
          <a:xfrm>
            <a:off x="1047750" y="3824288"/>
            <a:ext cx="211912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A4BCC"/>
                </a:solidFill>
                <a:latin typeface="Inter" pitchFamily="34" charset="0"/>
                <a:ea typeface="Inter" pitchFamily="34" charset="-122"/>
                <a:cs typeface="Inter" pitchFamily="34" charset="-120"/>
              </a:rPr>
              <a:t>10</a:t>
            </a:r>
            <a:endParaRPr lang="en-US" sz="4800" dirty="0"/>
          </a:p>
        </p:txBody>
      </p:sp>
      <p:sp>
        <p:nvSpPr>
          <p:cNvPr id="5" name="Text 3"/>
          <p:cNvSpPr/>
          <p:nvPr/>
        </p:nvSpPr>
        <p:spPr>
          <a:xfrm>
            <a:off x="1047750" y="4510088"/>
            <a:ext cx="211912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Dashboards</a:t>
            </a:r>
            <a:endParaRPr lang="en-US" sz="1800" dirty="0"/>
          </a:p>
        </p:txBody>
      </p:sp>
      <p:sp>
        <p:nvSpPr>
          <p:cNvPr id="6" name="Text 4"/>
          <p:cNvSpPr/>
          <p:nvPr/>
        </p:nvSpPr>
        <p:spPr>
          <a:xfrm>
            <a:off x="1047750" y="4860528"/>
            <a:ext cx="211912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From NOC overview to a single CPE.</a:t>
            </a:r>
            <a:endParaRPr lang="en-US" sz="1400" dirty="0"/>
          </a:p>
        </p:txBody>
      </p:sp>
      <p:sp>
        <p:nvSpPr>
          <p:cNvPr id="7" name="Shape 5"/>
          <p:cNvSpPr/>
          <p:nvPr/>
        </p:nvSpPr>
        <p:spPr>
          <a:xfrm>
            <a:off x="3495675" y="3592513"/>
            <a:ext cx="2520950" cy="2246313"/>
          </a:xfrm>
          <a:prstGeom prst="roundRect">
            <a:avLst>
              <a:gd name="adj" fmla="val 4382"/>
            </a:avLst>
          </a:prstGeom>
          <a:solidFill>
            <a:srgbClr val="FFFFFF"/>
          </a:solidFill>
          <a:ln w="6350">
            <a:solidFill>
              <a:srgbClr val="E2E8F0"/>
            </a:solidFill>
            <a:prstDash val="solid"/>
          </a:ln>
        </p:spPr>
      </p:sp>
      <p:sp>
        <p:nvSpPr>
          <p:cNvPr id="8" name="Text 6"/>
          <p:cNvSpPr/>
          <p:nvPr/>
        </p:nvSpPr>
        <p:spPr>
          <a:xfrm>
            <a:off x="3727450" y="3824288"/>
            <a:ext cx="211912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A4BCC"/>
                </a:solidFill>
                <a:latin typeface="Inter" pitchFamily="34" charset="0"/>
                <a:ea typeface="Inter" pitchFamily="34" charset="-122"/>
                <a:cs typeface="Inter" pitchFamily="34" charset="-120"/>
              </a:rPr>
              <a:t>40+</a:t>
            </a:r>
            <a:endParaRPr lang="en-US" sz="4800" dirty="0"/>
          </a:p>
        </p:txBody>
      </p:sp>
      <p:sp>
        <p:nvSpPr>
          <p:cNvPr id="9" name="Text 7"/>
          <p:cNvSpPr/>
          <p:nvPr/>
        </p:nvSpPr>
        <p:spPr>
          <a:xfrm>
            <a:off x="3727450" y="4510088"/>
            <a:ext cx="211912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Alert rules</a:t>
            </a:r>
            <a:endParaRPr lang="en-US" sz="1800" dirty="0"/>
          </a:p>
        </p:txBody>
      </p:sp>
      <p:sp>
        <p:nvSpPr>
          <p:cNvPr id="10" name="Text 8"/>
          <p:cNvSpPr/>
          <p:nvPr/>
        </p:nvSpPr>
        <p:spPr>
          <a:xfrm>
            <a:off x="3727450" y="4860528"/>
            <a:ext cx="211912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Links, routers, sectors, CPEs and subscribers.</a:t>
            </a:r>
            <a:endParaRPr lang="en-US" sz="1400" dirty="0"/>
          </a:p>
        </p:txBody>
      </p:sp>
      <p:sp>
        <p:nvSpPr>
          <p:cNvPr id="11" name="Shape 9"/>
          <p:cNvSpPr/>
          <p:nvPr/>
        </p:nvSpPr>
        <p:spPr>
          <a:xfrm>
            <a:off x="6175375" y="3592513"/>
            <a:ext cx="2520950" cy="2246313"/>
          </a:xfrm>
          <a:prstGeom prst="roundRect">
            <a:avLst>
              <a:gd name="adj" fmla="val 4382"/>
            </a:avLst>
          </a:prstGeom>
          <a:solidFill>
            <a:srgbClr val="FFFFFF"/>
          </a:solidFill>
          <a:ln w="6350">
            <a:solidFill>
              <a:srgbClr val="E2E8F0"/>
            </a:solidFill>
            <a:prstDash val="solid"/>
          </a:ln>
        </p:spPr>
      </p:sp>
      <p:sp>
        <p:nvSpPr>
          <p:cNvPr id="12" name="Text 10"/>
          <p:cNvSpPr/>
          <p:nvPr/>
        </p:nvSpPr>
        <p:spPr>
          <a:xfrm>
            <a:off x="6407150" y="3824288"/>
            <a:ext cx="211912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A4BCC"/>
                </a:solidFill>
                <a:latin typeface="Inter" pitchFamily="34" charset="0"/>
                <a:ea typeface="Inter" pitchFamily="34" charset="-122"/>
                <a:cs typeface="Inter" pitchFamily="34" charset="-120"/>
              </a:rPr>
              <a:t>4</a:t>
            </a:r>
            <a:endParaRPr lang="en-US" sz="4800" dirty="0"/>
          </a:p>
        </p:txBody>
      </p:sp>
      <p:sp>
        <p:nvSpPr>
          <p:cNvPr id="13" name="Text 11"/>
          <p:cNvSpPr/>
          <p:nvPr/>
        </p:nvSpPr>
        <p:spPr>
          <a:xfrm>
            <a:off x="6407150" y="4510088"/>
            <a:ext cx="211912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Radio families</a:t>
            </a:r>
            <a:endParaRPr lang="en-US" sz="1800" dirty="0"/>
          </a:p>
        </p:txBody>
      </p:sp>
      <p:sp>
        <p:nvSpPr>
          <p:cNvPr id="14" name="Text 12"/>
          <p:cNvSpPr/>
          <p:nvPr/>
        </p:nvSpPr>
        <p:spPr>
          <a:xfrm>
            <a:off x="6407150" y="4860528"/>
            <a:ext cx="211912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MikroTik, AirMAX, AirFiber and SAF.</a:t>
            </a:r>
            <a:endParaRPr lang="en-US" sz="1400" dirty="0"/>
          </a:p>
        </p:txBody>
      </p:sp>
      <p:sp>
        <p:nvSpPr>
          <p:cNvPr id="15" name="Shape 13"/>
          <p:cNvSpPr/>
          <p:nvPr/>
        </p:nvSpPr>
        <p:spPr>
          <a:xfrm>
            <a:off x="8855075" y="3592513"/>
            <a:ext cx="2520950" cy="2246313"/>
          </a:xfrm>
          <a:prstGeom prst="roundRect">
            <a:avLst>
              <a:gd name="adj" fmla="val 4382"/>
            </a:avLst>
          </a:prstGeom>
          <a:solidFill>
            <a:srgbClr val="FFFFFF"/>
          </a:solidFill>
          <a:ln w="6350">
            <a:solidFill>
              <a:srgbClr val="E2E8F0"/>
            </a:solidFill>
            <a:prstDash val="solid"/>
          </a:ln>
        </p:spPr>
      </p:sp>
      <p:sp>
        <p:nvSpPr>
          <p:cNvPr id="16" name="Text 14"/>
          <p:cNvSpPr/>
          <p:nvPr/>
        </p:nvSpPr>
        <p:spPr>
          <a:xfrm>
            <a:off x="9086850" y="3824288"/>
            <a:ext cx="22860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A4BCC"/>
                </a:solidFill>
                <a:latin typeface="Inter" pitchFamily="34" charset="0"/>
                <a:ea typeface="Inter" pitchFamily="34" charset="-122"/>
                <a:cs typeface="Inter" pitchFamily="34" charset="-120"/>
              </a:rPr>
              <a:t>Tested</a:t>
            </a:r>
            <a:endParaRPr lang="en-US" sz="4800" dirty="0"/>
          </a:p>
        </p:txBody>
      </p:sp>
      <p:sp>
        <p:nvSpPr>
          <p:cNvPr id="17" name="Text 15"/>
          <p:cNvSpPr/>
          <p:nvPr/>
        </p:nvSpPr>
        <p:spPr>
          <a:xfrm>
            <a:off x="9086850" y="4510088"/>
            <a:ext cx="211912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Alert logic</a:t>
            </a:r>
            <a:endParaRPr lang="en-US" sz="1800" dirty="0"/>
          </a:p>
        </p:txBody>
      </p:sp>
      <p:sp>
        <p:nvSpPr>
          <p:cNvPr id="18" name="Text 16"/>
          <p:cNvSpPr/>
          <p:nvPr/>
        </p:nvSpPr>
        <p:spPr>
          <a:xfrm>
            <a:off x="9086850" y="4860528"/>
            <a:ext cx="211912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Automated tests prove the rules fire and stay quiet correctly.</a:t>
            </a:r>
            <a:endParaRPr lang="en-US" sz="1400" dirty="0"/>
          </a:p>
        </p:txBody>
      </p:sp>
      <p:sp>
        <p:nvSpPr>
          <p:cNvPr id="19"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20" name="Image 0" descr="Officetech">    </p:cNvPr>
          <p:cNvPicPr>
            <a:picLocks noChangeAspect="1"/>
          </p:cNvPicPr>
          <p:nvPr/>
        </p:nvPicPr>
        <p:blipFill>
          <a:blip r:embed="rId1"/>
          <a:srcRect l="-105" r="-105" t="0" b="0"/>
          <a:stretch/>
        </p:blipFill>
        <p:spPr>
          <a:xfrm>
            <a:off x="10452100" y="6273800"/>
            <a:ext cx="927100" cy="279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4BCC"/>
        </a:solidFill>
      </p:bgPr>
    </p:bg>
    <p:spTree>
      <p:nvGrpSpPr>
        <p:cNvPr id="1" name=""/>
        <p:cNvGrpSpPr/>
        <p:nvPr/>
      </p:nvGrpSpPr>
      <p:grpSpPr>
        <a:xfrm>
          <a:off x="0" y="0"/>
          <a:ext cx="0" cy="0"/>
          <a:chOff x="0" y="0"/>
          <a:chExt cx="0" cy="0"/>
        </a:xfrm>
      </p:grpSpPr>
      <p:sp>
        <p:nvSpPr>
          <p:cNvPr id="2" name="Text 0"/>
          <p:cNvSpPr/>
          <p:nvPr/>
        </p:nvSpPr>
        <p:spPr>
          <a:xfrm>
            <a:off x="812800" y="179972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FFFFF"/>
                </a:solidFill>
                <a:latin typeface="Inter" pitchFamily="34" charset="0"/>
                <a:ea typeface="Inter" pitchFamily="34" charset="-122"/>
                <a:cs typeface="Inter" pitchFamily="34" charset="-120"/>
              </a:rPr>
              <a:t>WHAT ROLLOUT NEEDS: SECTOR MANAGEMENT</a:t>
            </a:r>
            <a:endParaRPr lang="en-US" sz="1400" dirty="0"/>
          </a:p>
        </p:txBody>
      </p:sp>
      <p:sp>
        <p:nvSpPr>
          <p:cNvPr id="3" name="Text 1"/>
          <p:cNvSpPr/>
          <p:nvPr/>
        </p:nvSpPr>
        <p:spPr>
          <a:xfrm>
            <a:off x="812800" y="2251770"/>
            <a:ext cx="9156700" cy="2105422"/>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FFFFFF"/>
                </a:solidFill>
                <a:latin typeface="Inter" pitchFamily="34" charset="0"/>
                <a:ea typeface="Inter" pitchFamily="34" charset="-122"/>
                <a:cs typeface="Inter" pitchFamily="34" charset="-120"/>
              </a:rPr>
              <a:t>A sector can only be monitored if the server can reach it.</a:t>
            </a:r>
            <a:endParaRPr lang="en-US" sz="5200" dirty="0"/>
          </a:p>
        </p:txBody>
      </p:sp>
      <p:sp>
        <p:nvSpPr>
          <p:cNvPr id="4" name="Text 2"/>
          <p:cNvSpPr/>
          <p:nvPr/>
        </p:nvSpPr>
        <p:spPr>
          <a:xfrm>
            <a:off x="812800" y="4534991"/>
            <a:ext cx="78486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FFFF"/>
                </a:solidFill>
                <a:latin typeface="Inter" pitchFamily="34" charset="0"/>
                <a:ea typeface="Inter" pitchFamily="34" charset="-122"/>
                <a:cs typeface="Inter" pitchFamily="34" charset="-120"/>
              </a:rPr>
              <a:t>A route on each side closes the gap, with no effect on subscribers.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9810750" cy="919361"/>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20817"/>
                </a:solidFill>
                <a:latin typeface="Inter" pitchFamily="34" charset="0"/>
                <a:ea typeface="Inter" pitchFamily="34" charset="-122"/>
                <a:cs typeface="Inter" pitchFamily="34" charset="-120"/>
              </a:rPr>
              <a:t>Only one thing stops the server reaching a sector.</a:t>
            </a:r>
            <a:endParaRPr lang="en-US" sz="3200" dirty="0"/>
          </a:p>
        </p:txBody>
      </p:sp>
      <p:sp>
        <p:nvSpPr>
          <p:cNvPr id="3" name="Shape 1"/>
          <p:cNvSpPr/>
          <p:nvPr/>
        </p:nvSpPr>
        <p:spPr>
          <a:xfrm>
            <a:off x="815975" y="2139156"/>
            <a:ext cx="2736850" cy="1062831"/>
          </a:xfrm>
          <a:prstGeom prst="roundRect">
            <a:avLst>
              <a:gd name="adj" fmla="val 9261"/>
            </a:avLst>
          </a:prstGeom>
          <a:solidFill>
            <a:srgbClr val="F1F5F9"/>
          </a:solidFill>
          <a:ln w="6350">
            <a:solidFill>
              <a:srgbClr val="E2E8F0"/>
            </a:solidFill>
            <a:prstDash val="solid"/>
          </a:ln>
        </p:spPr>
      </p:sp>
      <p:sp>
        <p:nvSpPr>
          <p:cNvPr id="4" name="Text 2"/>
          <p:cNvSpPr/>
          <p:nvPr/>
        </p:nvSpPr>
        <p:spPr>
          <a:xfrm>
            <a:off x="1047750" y="2370931"/>
            <a:ext cx="234149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4BCC"/>
                </a:solidFill>
                <a:latin typeface="Inter" pitchFamily="34" charset="0"/>
                <a:ea typeface="Inter" pitchFamily="34" charset="-122"/>
                <a:cs typeface="Inter" pitchFamily="34" charset="-120"/>
              </a:rPr>
              <a:t>Monitoring server</a:t>
            </a:r>
            <a:endParaRPr lang="en-US" sz="1800" dirty="0"/>
          </a:p>
        </p:txBody>
      </p:sp>
      <p:sp>
        <p:nvSpPr>
          <p:cNvPr id="5" name="Text 3"/>
          <p:cNvSpPr/>
          <p:nvPr/>
        </p:nvSpPr>
        <p:spPr>
          <a:xfrm>
            <a:off x="1047750" y="2721372"/>
            <a:ext cx="234149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Polls SNMP and ping.</a:t>
            </a:r>
            <a:endParaRPr lang="en-US" sz="1400" dirty="0"/>
          </a:p>
        </p:txBody>
      </p:sp>
      <p:pic>
        <p:nvPicPr>
          <p:cNvPr id="6" name="Image 0" descr="arrow-right">    </p:cNvPr>
          <p:cNvPicPr>
            <a:picLocks noChangeAspect="1"/>
          </p:cNvPicPr>
          <p:nvPr/>
        </p:nvPicPr>
        <p:blipFill>
          <a:blip r:embed="rId1"/>
          <a:srcRect l="0" r="0" t="0" b="0"/>
          <a:stretch/>
        </p:blipFill>
        <p:spPr>
          <a:xfrm>
            <a:off x="3759200" y="2492772"/>
            <a:ext cx="762000" cy="355600"/>
          </a:xfrm>
          <a:prstGeom prst="rect">
            <a:avLst/>
          </a:prstGeom>
        </p:spPr>
      </p:pic>
      <p:sp>
        <p:nvSpPr>
          <p:cNvPr id="7" name="Shape 4"/>
          <p:cNvSpPr/>
          <p:nvPr/>
        </p:nvSpPr>
        <p:spPr>
          <a:xfrm>
            <a:off x="4727575" y="2139156"/>
            <a:ext cx="2736850" cy="1062831"/>
          </a:xfrm>
          <a:prstGeom prst="roundRect">
            <a:avLst>
              <a:gd name="adj" fmla="val 9261"/>
            </a:avLst>
          </a:prstGeom>
          <a:solidFill>
            <a:srgbClr val="F1F5F9"/>
          </a:solidFill>
          <a:ln w="6350">
            <a:solidFill>
              <a:srgbClr val="E2E8F0"/>
            </a:solidFill>
            <a:prstDash val="solid"/>
          </a:ln>
        </p:spPr>
      </p:sp>
      <p:sp>
        <p:nvSpPr>
          <p:cNvPr id="8" name="Text 5"/>
          <p:cNvSpPr/>
          <p:nvPr/>
        </p:nvSpPr>
        <p:spPr>
          <a:xfrm>
            <a:off x="4959350" y="2370931"/>
            <a:ext cx="234149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4BCC"/>
                </a:solidFill>
                <a:latin typeface="Inter" pitchFamily="34" charset="0"/>
                <a:ea typeface="Inter" pitchFamily="34" charset="-122"/>
                <a:cs typeface="Inter" pitchFamily="34" charset="-120"/>
              </a:rPr>
              <a:t>POP router</a:t>
            </a:r>
            <a:endParaRPr lang="en-US" sz="1800" dirty="0"/>
          </a:p>
        </p:txBody>
      </p:sp>
      <p:sp>
        <p:nvSpPr>
          <p:cNvPr id="9" name="Text 6"/>
          <p:cNvSpPr/>
          <p:nvPr/>
        </p:nvSpPr>
        <p:spPr>
          <a:xfrm>
            <a:off x="4959350" y="2721372"/>
            <a:ext cx="25019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Has no route to the sector.</a:t>
            </a:r>
            <a:endParaRPr lang="en-US" sz="1400" dirty="0"/>
          </a:p>
        </p:txBody>
      </p:sp>
      <p:pic>
        <p:nvPicPr>
          <p:cNvPr id="10" name="Image 1" descr="arrow-right">    </p:cNvPr>
          <p:cNvPicPr>
            <a:picLocks noChangeAspect="1"/>
          </p:cNvPicPr>
          <p:nvPr/>
        </p:nvPicPr>
        <p:blipFill>
          <a:blip r:embed="rId2"/>
          <a:srcRect l="0" r="0" t="0" b="0"/>
          <a:stretch/>
        </p:blipFill>
        <p:spPr>
          <a:xfrm>
            <a:off x="7670800" y="2492772"/>
            <a:ext cx="762000" cy="355600"/>
          </a:xfrm>
          <a:prstGeom prst="rect">
            <a:avLst/>
          </a:prstGeom>
        </p:spPr>
      </p:pic>
      <p:sp>
        <p:nvSpPr>
          <p:cNvPr id="11" name="Shape 7"/>
          <p:cNvSpPr/>
          <p:nvPr/>
        </p:nvSpPr>
        <p:spPr>
          <a:xfrm>
            <a:off x="8639175" y="2014736"/>
            <a:ext cx="2736850" cy="1311672"/>
          </a:xfrm>
          <a:prstGeom prst="roundRect">
            <a:avLst>
              <a:gd name="adj" fmla="val 7504"/>
            </a:avLst>
          </a:prstGeom>
          <a:solidFill>
            <a:srgbClr val="F1F5F9"/>
          </a:solidFill>
          <a:ln w="6350">
            <a:solidFill>
              <a:srgbClr val="A40E0E"/>
            </a:solidFill>
            <a:prstDash val="solid"/>
          </a:ln>
        </p:spPr>
      </p:sp>
      <p:sp>
        <p:nvSpPr>
          <p:cNvPr id="12" name="Text 8"/>
          <p:cNvSpPr/>
          <p:nvPr/>
        </p:nvSpPr>
        <p:spPr>
          <a:xfrm>
            <a:off x="8870950" y="2246511"/>
            <a:ext cx="234149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40E0E"/>
                </a:solidFill>
                <a:latin typeface="Inter" pitchFamily="34" charset="0"/>
                <a:ea typeface="Inter" pitchFamily="34" charset="-122"/>
                <a:cs typeface="Inter" pitchFamily="34" charset="-120"/>
              </a:rPr>
              <a:t>Sector</a:t>
            </a:r>
            <a:endParaRPr lang="en-US" sz="1800" dirty="0"/>
          </a:p>
        </p:txBody>
      </p:sp>
      <p:sp>
        <p:nvSpPr>
          <p:cNvPr id="13" name="Text 9"/>
          <p:cNvSpPr/>
          <p:nvPr/>
        </p:nvSpPr>
        <p:spPr>
          <a:xfrm>
            <a:off x="8870950" y="2596952"/>
            <a:ext cx="234149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No route to the POP router, and none back.</a:t>
            </a:r>
            <a:endParaRPr lang="en-US" sz="1400" dirty="0"/>
          </a:p>
        </p:txBody>
      </p:sp>
      <p:sp>
        <p:nvSpPr>
          <p:cNvPr id="14" name="Text 10"/>
          <p:cNvSpPr/>
          <p:nvPr/>
        </p:nvSpPr>
        <p:spPr>
          <a:xfrm>
            <a:off x="815975" y="3637558"/>
            <a:ext cx="10560050" cy="944761"/>
          </a:xfrm>
          <a:prstGeom prst="roundRect">
            <a:avLst>
              <a:gd name="adj" fmla="val 10418"/>
            </a:avLst>
          </a:prstGeom>
          <a:solidFill>
            <a:srgbClr val="EAF1FF"/>
          </a:solidFill>
          <a:ln w="6350">
            <a:solidFill>
              <a:srgbClr val="0A4BCC"/>
            </a:solidFill>
            <a:prstDash val="solid"/>
          </a:ln>
        </p:spPr>
        <p:txBody>
          <a:bodyPr wrap="square" lIns="228347" tIns="152147" rIns="0" bIns="126747" rtlCol="0" anchor="t">
            <a:normAutofit/>
          </a:bodyPr>
          <a:lstStyle/>
          <a:p>
            <a:pPr algn="l" indent="0" marL="0">
              <a:lnSpc>
                <a:spcPts val="2295"/>
              </a:lnSpc>
              <a:buNone/>
            </a:pPr>
            <a:r>
              <a:rPr lang="en-US" sz="1700" b="1" dirty="0">
                <a:solidFill>
                  <a:srgbClr val="0A4BCC"/>
                </a:solidFill>
                <a:latin typeface="Inter" pitchFamily="34" charset="0"/>
                <a:ea typeface="Inter" pitchFamily="34" charset="-122"/>
                <a:cs typeface="Inter" pitchFamily="34" charset="-120"/>
              </a:rPr>
              <a:t>The only blocker: no route in either direction. The sector cannot reach the POP router, and the POP router cannot reach the sector.</a:t>
            </a:r>
            <a:endParaRPr lang="en-US" sz="1700" dirty="0"/>
          </a:p>
        </p:txBody>
      </p:sp>
      <p:sp>
        <p:nvSpPr>
          <p:cNvPr id="15" name="Text 11"/>
          <p:cNvSpPr/>
          <p:nvPr/>
        </p:nvSpPr>
        <p:spPr>
          <a:xfrm>
            <a:off x="812800" y="4890294"/>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5569"/>
                </a:solidFill>
                <a:latin typeface="Inter" pitchFamily="34" charset="0"/>
                <a:ea typeface="Inter" pitchFamily="34" charset="-122"/>
                <a:cs typeface="Inter" pitchFamily="34" charset="-120"/>
              </a:rPr>
              <a:t>Without both routes, ping, SNMP, Winbox and NTP cannot get there or come back. Add them and the server sees each sector at its real address.</a:t>
            </a:r>
            <a:endParaRPr lang="en-US" sz="1500" dirty="0"/>
          </a:p>
        </p:txBody>
      </p:sp>
      <p:sp>
        <p:nvSpPr>
          <p:cNvPr id="16" name="Text 1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17" name="Image 2" descr="Officetech">    </p:cNvPr>
          <p:cNvPicPr>
            <a:picLocks noChangeAspect="1"/>
          </p:cNvPicPr>
          <p:nvPr/>
        </p:nvPicPr>
        <p:blipFill>
          <a:blip r:embed="rId3"/>
          <a:srcRect l="-105" r="-105" t="0" b="0"/>
          <a:stretch/>
        </p:blipFill>
        <p:spPr>
          <a:xfrm>
            <a:off x="10452100" y="6273800"/>
            <a:ext cx="927100" cy="279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20817"/>
                </a:solidFill>
                <a:latin typeface="Inter" pitchFamily="34" charset="0"/>
                <a:ea typeface="Inter" pitchFamily="34" charset="-122"/>
                <a:cs typeface="Inter" pitchFamily="34" charset="-120"/>
              </a:rPr>
              <a:t>The fix: one route on each side.</a:t>
            </a:r>
            <a:endParaRPr lang="en-US" sz="3000" dirty="0"/>
          </a:p>
        </p:txBody>
      </p:sp>
      <p:sp>
        <p:nvSpPr>
          <p:cNvPr id="3" name="Text 1"/>
          <p:cNvSpPr/>
          <p:nvPr/>
        </p:nvSpPr>
        <p:spPr>
          <a:xfrm>
            <a:off x="812800" y="14097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A4BCC"/>
                </a:solidFill>
                <a:latin typeface="Inter" pitchFamily="34" charset="0"/>
                <a:ea typeface="Inter" pitchFamily="34" charset="-122"/>
                <a:cs typeface="Inter" pitchFamily="34" charset="-120"/>
              </a:rPr>
              <a:t>On the sector: a route to the POP router</a:t>
            </a:r>
            <a:endParaRPr lang="en-US" sz="1500" dirty="0"/>
          </a:p>
        </p:txBody>
      </p:sp>
      <p:sp>
        <p:nvSpPr>
          <p:cNvPr id="4" name="Text 2"/>
          <p:cNvSpPr/>
          <p:nvPr/>
        </p:nvSpPr>
        <p:spPr>
          <a:xfrm>
            <a:off x="815975" y="1857375"/>
            <a:ext cx="10560050" cy="558800"/>
          </a:xfrm>
          <a:prstGeom prst="roundRect">
            <a:avLst>
              <a:gd name="adj" fmla="val 13068"/>
            </a:avLst>
          </a:prstGeom>
          <a:solidFill>
            <a:srgbClr val="EEF2F8"/>
          </a:solidFill>
          <a:ln w="6350">
            <a:solidFill>
              <a:srgbClr val="E2E8F0"/>
            </a:solidFill>
            <a:prstDash val="solid"/>
          </a:ln>
        </p:spPr>
        <p:txBody>
          <a:bodyPr wrap="square" lIns="210387" tIns="134187" rIns="0" bIns="108787" rtlCol="0" anchor="t">
            <a:normAutofit/>
          </a:bodyPr>
          <a:lstStyle/>
          <a:p>
            <a:pPr algn="l" indent="0" marL="0">
              <a:lnSpc>
                <a:spcPts val="1950"/>
              </a:lnSpc>
              <a:buNone/>
            </a:pPr>
            <a:r>
              <a:rPr lang="en-US" sz="1300" dirty="0">
                <a:solidFill>
                  <a:srgbClr val="0F172A"/>
                </a:solidFill>
                <a:latin typeface="JetBrains Mono" pitchFamily="49" charset="0"/>
                <a:ea typeface="JetBrains Mono" pitchFamily="49" charset="-122"/>
                <a:cs typeface="JetBrains Mono" pitchFamily="49" charset="-120"/>
              </a:rPr>
              <a:t>/ip route add dst-address=0.0.0.0/0 gateway=&lt;POP-router-IP&gt; comment="mgmt route"</a:t>
            </a:r>
            <a:endParaRPr lang="en-US" sz="1300" dirty="0"/>
          </a:p>
        </p:txBody>
      </p:sp>
      <p:sp>
        <p:nvSpPr>
          <p:cNvPr id="5" name="Text 3"/>
          <p:cNvSpPr/>
          <p:nvPr/>
        </p:nvSpPr>
        <p:spPr>
          <a:xfrm>
            <a:off x="812800" y="259715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A4BCC"/>
                </a:solidFill>
                <a:latin typeface="Inter" pitchFamily="34" charset="0"/>
                <a:ea typeface="Inter" pitchFamily="34" charset="-122"/>
                <a:cs typeface="Inter" pitchFamily="34" charset="-120"/>
              </a:rPr>
              <a:t>On the POP router: a route to the sector</a:t>
            </a:r>
            <a:endParaRPr lang="en-US" sz="1500" dirty="0"/>
          </a:p>
        </p:txBody>
      </p:sp>
      <p:sp>
        <p:nvSpPr>
          <p:cNvPr id="6" name="Text 4"/>
          <p:cNvSpPr/>
          <p:nvPr/>
        </p:nvSpPr>
        <p:spPr>
          <a:xfrm>
            <a:off x="815975" y="3044825"/>
            <a:ext cx="10560050" cy="558800"/>
          </a:xfrm>
          <a:prstGeom prst="roundRect">
            <a:avLst>
              <a:gd name="adj" fmla="val 13068"/>
            </a:avLst>
          </a:prstGeom>
          <a:solidFill>
            <a:srgbClr val="EEF2F8"/>
          </a:solidFill>
          <a:ln w="6350">
            <a:solidFill>
              <a:srgbClr val="E2E8F0"/>
            </a:solidFill>
            <a:prstDash val="solid"/>
          </a:ln>
        </p:spPr>
        <p:txBody>
          <a:bodyPr wrap="square" lIns="210387" tIns="134187" rIns="0" bIns="108787" rtlCol="0" anchor="t">
            <a:normAutofit/>
          </a:bodyPr>
          <a:lstStyle/>
          <a:p>
            <a:pPr algn="l" indent="0" marL="0">
              <a:lnSpc>
                <a:spcPts val="1950"/>
              </a:lnSpc>
              <a:buNone/>
            </a:pPr>
            <a:r>
              <a:rPr lang="en-US" sz="1300" dirty="0">
                <a:solidFill>
                  <a:srgbClr val="0F172A"/>
                </a:solidFill>
                <a:latin typeface="JetBrains Mono" pitchFamily="49" charset="0"/>
                <a:ea typeface="JetBrains Mono" pitchFamily="49" charset="-122"/>
                <a:cs typeface="JetBrains Mono" pitchFamily="49" charset="-120"/>
              </a:rPr>
              <a:t>/ip route add dst-address=&lt;sector-IP&gt;/32 gateway=&lt;next-hop-to-sector&gt; comment="mgmt -&gt; sector"</a:t>
            </a:r>
            <a:endParaRPr lang="en-US" sz="1300" dirty="0"/>
          </a:p>
        </p:txBody>
      </p:sp>
      <p:sp>
        <p:nvSpPr>
          <p:cNvPr id="7" name="Text 5"/>
          <p:cNvSpPr/>
          <p:nvPr/>
        </p:nvSpPr>
        <p:spPr>
          <a:xfrm>
            <a:off x="812800" y="3784600"/>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Check with /ip route print and /ping &lt;monitoring-server-ip&gt; count=3. Also confirm read-only SNMP is enabled on the sector, limited to the monitoring server.</a:t>
            </a:r>
            <a:endParaRPr lang="en-US" sz="1400" dirty="0"/>
          </a:p>
        </p:txBody>
      </p:sp>
      <p:sp>
        <p:nvSpPr>
          <p:cNvPr id="8" name="Text 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9" name="Image 0" descr="Officetech">    </p:cNvPr>
          <p:cNvPicPr>
            <a:picLocks noChangeAspect="1"/>
          </p:cNvPicPr>
          <p:nvPr/>
        </p:nvPicPr>
        <p:blipFill>
          <a:blip r:embed="rId1"/>
          <a:srcRect l="-105" r="-105" t="0" b="0"/>
          <a:stretch/>
        </p:blipFill>
        <p:spPr>
          <a:xfrm>
            <a:off x="10452100" y="6273800"/>
            <a:ext cx="927100" cy="279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812800" y="812800"/>
            <a:ext cx="981075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20817"/>
                </a:solidFill>
                <a:latin typeface="Inter" pitchFamily="34" charset="0"/>
                <a:ea typeface="Inter" pitchFamily="34" charset="-122"/>
                <a:cs typeface="Inter" pitchFamily="34" charset="-120"/>
              </a:rPr>
              <a:t>Safe to roll out during the day.</a:t>
            </a:r>
            <a:endParaRPr lang="en-US" sz="3600" dirty="0"/>
          </a:p>
        </p:txBody>
      </p:sp>
      <p:sp>
        <p:nvSpPr>
          <p:cNvPr id="3" name="Shape 1"/>
          <p:cNvSpPr/>
          <p:nvPr/>
        </p:nvSpPr>
        <p:spPr>
          <a:xfrm>
            <a:off x="815975" y="2184995"/>
            <a:ext cx="5175250" cy="1987550"/>
          </a:xfrm>
          <a:prstGeom prst="roundRect">
            <a:avLst>
              <a:gd name="adj" fmla="val 4952"/>
            </a:avLst>
          </a:prstGeom>
          <a:solidFill>
            <a:srgbClr val="FFFFFF"/>
          </a:solidFill>
          <a:ln w="6350">
            <a:solidFill>
              <a:srgbClr val="E2E8F0"/>
            </a:solidFill>
            <a:prstDash val="solid"/>
          </a:ln>
        </p:spPr>
      </p:sp>
      <p:sp>
        <p:nvSpPr>
          <p:cNvPr id="4" name="Text 2"/>
          <p:cNvSpPr/>
          <p:nvPr/>
        </p:nvSpPr>
        <p:spPr>
          <a:xfrm>
            <a:off x="1073150" y="244217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A4BCC"/>
                </a:solidFill>
                <a:latin typeface="Inter" pitchFamily="34" charset="0"/>
                <a:ea typeface="Inter" pitchFamily="34" charset="-122"/>
                <a:cs typeface="Inter" pitchFamily="34" charset="-120"/>
              </a:rPr>
              <a:t>No subscriber impact</a:t>
            </a:r>
            <a:endParaRPr lang="en-US" sz="2000" dirty="0"/>
          </a:p>
        </p:txBody>
      </p:sp>
      <p:sp>
        <p:nvSpPr>
          <p:cNvPr id="5" name="Text 3"/>
          <p:cNvSpPr/>
          <p:nvPr/>
        </p:nvSpPr>
        <p:spPr>
          <a:xfrm>
            <a:off x="1073150" y="2848570"/>
            <a:ext cx="4800727"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5569"/>
                </a:solidFill>
                <a:latin typeface="Inter" pitchFamily="34" charset="0"/>
                <a:ea typeface="Inter" pitchFamily="34" charset="-122"/>
                <a:cs typeface="Inter" pitchFamily="34" charset="-120"/>
              </a:rPr>
              <a:t>ether1 and wlan are bridged, so client traffic crosses the sector at Layer 2 and never uses its routing table. The route only carries traffic the sector itself sends.</a:t>
            </a:r>
            <a:endParaRPr lang="en-US" sz="1500" dirty="0"/>
          </a:p>
        </p:txBody>
      </p:sp>
      <p:sp>
        <p:nvSpPr>
          <p:cNvPr id="6" name="Shape 4"/>
          <p:cNvSpPr/>
          <p:nvPr/>
        </p:nvSpPr>
        <p:spPr>
          <a:xfrm>
            <a:off x="6200775" y="2184995"/>
            <a:ext cx="5175250" cy="1987550"/>
          </a:xfrm>
          <a:prstGeom prst="roundRect">
            <a:avLst>
              <a:gd name="adj" fmla="val 4952"/>
            </a:avLst>
          </a:prstGeom>
          <a:solidFill>
            <a:srgbClr val="FFFFFF"/>
          </a:solidFill>
          <a:ln w="6350">
            <a:solidFill>
              <a:srgbClr val="E2E8F0"/>
            </a:solidFill>
            <a:prstDash val="solid"/>
          </a:ln>
        </p:spPr>
      </p:sp>
      <p:sp>
        <p:nvSpPr>
          <p:cNvPr id="7" name="Text 5"/>
          <p:cNvSpPr/>
          <p:nvPr/>
        </p:nvSpPr>
        <p:spPr>
          <a:xfrm>
            <a:off x="6457950" y="244217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A4BCC"/>
                </a:solidFill>
                <a:latin typeface="Inter" pitchFamily="34" charset="0"/>
                <a:ea typeface="Inter" pitchFamily="34" charset="-122"/>
                <a:cs typeface="Inter" pitchFamily="34" charset="-120"/>
              </a:rPr>
              <a:t>What you gain</a:t>
            </a:r>
            <a:endParaRPr lang="en-US" sz="2000" dirty="0"/>
          </a:p>
        </p:txBody>
      </p:sp>
      <p:sp>
        <p:nvSpPr>
          <p:cNvPr id="8" name="Text 6"/>
          <p:cNvSpPr/>
          <p:nvPr/>
        </p:nvSpPr>
        <p:spPr>
          <a:xfrm>
            <a:off x="6457950" y="2848570"/>
            <a:ext cx="480072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5569"/>
                </a:solidFill>
                <a:latin typeface="Inter" pitchFamily="34" charset="0"/>
                <a:ea typeface="Inter" pitchFamily="34" charset="-122"/>
                <a:cs typeface="Inter" pitchFamily="34" charset="-120"/>
              </a:rPr>
              <a:t>The server sees each sector's real source address, the POP masquerade rule is not needed, and sector A can ping sector B through the router.</a:t>
            </a:r>
            <a:endParaRPr lang="en-US" sz="1500" dirty="0"/>
          </a:p>
        </p:txBody>
      </p:sp>
      <p:sp>
        <p:nvSpPr>
          <p:cNvPr id="9" name="Text 7"/>
          <p:cNvSpPr/>
          <p:nvPr/>
        </p:nvSpPr>
        <p:spPr>
          <a:xfrm>
            <a:off x="812800" y="5041900"/>
            <a:ext cx="10566400" cy="800100"/>
          </a:xfrm>
          <a:prstGeom prst="roundRect">
            <a:avLst>
              <a:gd name="adj" fmla="val 9524"/>
            </a:avLst>
          </a:prstGeom>
          <a:solidFill>
            <a:srgbClr val="0F172A"/>
          </a:solidFill>
          <a:ln/>
        </p:spPr>
        <p:txBody>
          <a:bodyPr wrap="square" lIns="206282" tIns="130082" rIns="0" bIns="104682" rtlCol="0" anchor="t">
            <a:normAutofit/>
          </a:bodyPr>
          <a:lstStyle/>
          <a:p>
            <a:pPr algn="l" indent="0" marL="0">
              <a:lnSpc>
                <a:spcPts val="1950"/>
              </a:lnSpc>
              <a:buNone/>
            </a:pPr>
            <a:r>
              <a:rPr lang="en-US" sz="1300" dirty="0">
                <a:solidFill>
                  <a:srgbClr val="E2E8F0"/>
                </a:solidFill>
                <a:latin typeface="JetBrains Mono" pitchFamily="49" charset="0"/>
                <a:ea typeface="JetBrains Mono" pitchFamily="49" charset="-122"/>
                <a:cs typeface="JetBrains Mono" pitchFamily="49" charset="-120"/>
              </a:rPr>
              <a:t>Server test: ping &lt;sector-ip&gt;</a:t>
            </a:r>
            <a:endParaRPr lang="en-US" sz="1300" dirty="0"/>
          </a:p>
          <a:p>
            <a:pPr algn="l" indent="0" marL="0">
              <a:lnSpc>
                <a:spcPts val="1950"/>
              </a:lnSpc>
              <a:buNone/>
            </a:pPr>
            <a:r>
              <a:rPr lang="en-US" sz="1300" dirty="0">
                <a:solidFill>
                  <a:srgbClr val="E2E8F0"/>
                </a:solidFill>
                <a:latin typeface="JetBrains Mono" pitchFamily="49" charset="0"/>
                <a:ea typeface="JetBrains Mono" pitchFamily="49" charset="-122"/>
                <a:cs typeface="JetBrains Mono" pitchFamily="49" charset="-120"/>
              </a:rPr>
              <a:t>snmpwalk -v2c -c &lt;community&gt; &lt;sector-ip&gt; 1.3.6.1.2.1.1</a:t>
            </a:r>
            <a:endParaRPr lang="en-US" sz="1300" dirty="0"/>
          </a:p>
        </p:txBody>
      </p:sp>
      <p:sp>
        <p:nvSpPr>
          <p:cNvPr id="10" name="Text 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11" name="Image 0" descr="Officetech">    </p:cNvPr>
          <p:cNvPicPr>
            <a:picLocks noChangeAspect="1"/>
          </p:cNvPicPr>
          <p:nvPr/>
        </p:nvPicPr>
        <p:blipFill>
          <a:blip r:embed="rId1"/>
          <a:srcRect l="-105" r="-105" t="0" b="0"/>
          <a:stretch/>
        </p:blipFill>
        <p:spPr>
          <a:xfrm>
            <a:off x="10452100" y="6273800"/>
            <a:ext cx="927100" cy="279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981075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20817"/>
                </a:solidFill>
                <a:latin typeface="Inter" pitchFamily="34" charset="0"/>
                <a:ea typeface="Inter" pitchFamily="34" charset="-122"/>
                <a:cs typeface="Inter" pitchFamily="34" charset="-120"/>
              </a:rPr>
              <a:t>What it takes to run.</a:t>
            </a:r>
            <a:endParaRPr lang="en-US" sz="3600" dirty="0"/>
          </a:p>
        </p:txBody>
      </p:sp>
      <p:sp>
        <p:nvSpPr>
          <p:cNvPr id="3" name="Shape 1"/>
          <p:cNvSpPr/>
          <p:nvPr/>
        </p:nvSpPr>
        <p:spPr>
          <a:xfrm>
            <a:off x="815975" y="3166070"/>
            <a:ext cx="2520950" cy="2672755"/>
          </a:xfrm>
          <a:prstGeom prst="roundRect">
            <a:avLst>
              <a:gd name="adj" fmla="val 3904"/>
            </a:avLst>
          </a:prstGeom>
          <a:solidFill>
            <a:srgbClr val="F1F5F9"/>
          </a:solidFill>
          <a:ln w="6350">
            <a:solidFill>
              <a:srgbClr val="E2E8F0"/>
            </a:solidFill>
            <a:prstDash val="solid"/>
          </a:ln>
        </p:spPr>
      </p:sp>
      <p:sp>
        <p:nvSpPr>
          <p:cNvPr id="4" name="Text 2"/>
          <p:cNvSpPr/>
          <p:nvPr/>
        </p:nvSpPr>
        <p:spPr>
          <a:xfrm>
            <a:off x="10731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FOOTPRINT</a:t>
            </a:r>
            <a:endParaRPr lang="en-US" sz="1200" dirty="0"/>
          </a:p>
        </p:txBody>
      </p:sp>
      <p:sp>
        <p:nvSpPr>
          <p:cNvPr id="5" name="Text 3"/>
          <p:cNvSpPr/>
          <p:nvPr/>
        </p:nvSpPr>
        <p:spPr>
          <a:xfrm>
            <a:off x="1073150" y="372546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One Linux server</a:t>
            </a:r>
            <a:endParaRPr lang="en-US" sz="1800" dirty="0"/>
          </a:p>
        </p:txBody>
      </p:sp>
      <p:sp>
        <p:nvSpPr>
          <p:cNvPr id="6" name="Text 4"/>
          <p:cNvSpPr/>
          <p:nvPr/>
        </p:nvSpPr>
        <p:spPr>
          <a:xfrm>
            <a:off x="1073150" y="4088606"/>
            <a:ext cx="2066798"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Hosted locally in your own network. The whole stack runs in Docker on one machine.</a:t>
            </a:r>
            <a:endParaRPr lang="en-US" sz="1400" dirty="0"/>
          </a:p>
        </p:txBody>
      </p:sp>
      <p:sp>
        <p:nvSpPr>
          <p:cNvPr id="7" name="Shape 5"/>
          <p:cNvSpPr/>
          <p:nvPr/>
        </p:nvSpPr>
        <p:spPr>
          <a:xfrm>
            <a:off x="3495675" y="3166070"/>
            <a:ext cx="2520950" cy="2672755"/>
          </a:xfrm>
          <a:prstGeom prst="roundRect">
            <a:avLst>
              <a:gd name="adj" fmla="val 3904"/>
            </a:avLst>
          </a:prstGeom>
          <a:solidFill>
            <a:srgbClr val="F1F5F9"/>
          </a:solidFill>
          <a:ln w="6350">
            <a:solidFill>
              <a:srgbClr val="E2E8F0"/>
            </a:solidFill>
            <a:prstDash val="solid"/>
          </a:ln>
        </p:spPr>
      </p:sp>
      <p:sp>
        <p:nvSpPr>
          <p:cNvPr id="8" name="Text 6"/>
          <p:cNvSpPr/>
          <p:nvPr/>
        </p:nvSpPr>
        <p:spPr>
          <a:xfrm>
            <a:off x="37528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ACCESS</a:t>
            </a:r>
            <a:endParaRPr lang="en-US" sz="1200" dirty="0"/>
          </a:p>
        </p:txBody>
      </p:sp>
      <p:sp>
        <p:nvSpPr>
          <p:cNvPr id="9" name="Text 7"/>
          <p:cNvSpPr/>
          <p:nvPr/>
        </p:nvSpPr>
        <p:spPr>
          <a:xfrm>
            <a:off x="3752850" y="372546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Read-only</a:t>
            </a:r>
            <a:endParaRPr lang="en-US" sz="1800" dirty="0"/>
          </a:p>
        </p:txBody>
      </p:sp>
      <p:sp>
        <p:nvSpPr>
          <p:cNvPr id="10" name="Text 8"/>
          <p:cNvSpPr/>
          <p:nvPr/>
        </p:nvSpPr>
        <p:spPr>
          <a:xfrm>
            <a:off x="3752850" y="4088606"/>
            <a:ext cx="2066798"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SNMP and RouterOS API read access only, limited to the monitoring server. Monitoring changes nothing.</a:t>
            </a:r>
            <a:endParaRPr lang="en-US" sz="1400" dirty="0"/>
          </a:p>
        </p:txBody>
      </p:sp>
      <p:sp>
        <p:nvSpPr>
          <p:cNvPr id="11" name="Shape 9"/>
          <p:cNvSpPr/>
          <p:nvPr/>
        </p:nvSpPr>
        <p:spPr>
          <a:xfrm>
            <a:off x="6175375" y="3166070"/>
            <a:ext cx="2520950" cy="2672755"/>
          </a:xfrm>
          <a:prstGeom prst="roundRect">
            <a:avLst>
              <a:gd name="adj" fmla="val 3904"/>
            </a:avLst>
          </a:prstGeom>
          <a:solidFill>
            <a:srgbClr val="F1F5F9"/>
          </a:solidFill>
          <a:ln w="6350">
            <a:solidFill>
              <a:srgbClr val="E2E8F0"/>
            </a:solidFill>
            <a:prstDash val="solid"/>
          </a:ln>
        </p:spPr>
      </p:sp>
      <p:sp>
        <p:nvSpPr>
          <p:cNvPr id="12" name="Text 10"/>
          <p:cNvSpPr/>
          <p:nvPr/>
        </p:nvSpPr>
        <p:spPr>
          <a:xfrm>
            <a:off x="64325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RISK</a:t>
            </a:r>
            <a:endParaRPr lang="en-US" sz="1200" dirty="0"/>
          </a:p>
        </p:txBody>
      </p:sp>
      <p:sp>
        <p:nvSpPr>
          <p:cNvPr id="13" name="Text 11"/>
          <p:cNvSpPr/>
          <p:nvPr/>
        </p:nvSpPr>
        <p:spPr>
          <a:xfrm>
            <a:off x="6432550" y="3725466"/>
            <a:ext cx="2066798"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No subscriber impact</a:t>
            </a:r>
            <a:endParaRPr lang="en-US" sz="1800" dirty="0"/>
          </a:p>
        </p:txBody>
      </p:sp>
      <p:sp>
        <p:nvSpPr>
          <p:cNvPr id="14" name="Text 12"/>
          <p:cNvSpPr/>
          <p:nvPr/>
        </p:nvSpPr>
        <p:spPr>
          <a:xfrm>
            <a:off x="6432550" y="4362847"/>
            <a:ext cx="206679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Setup is two routes per sector, done in business hours. Client traffic never uses them.</a:t>
            </a:r>
            <a:endParaRPr lang="en-US" sz="1400" dirty="0"/>
          </a:p>
        </p:txBody>
      </p:sp>
      <p:sp>
        <p:nvSpPr>
          <p:cNvPr id="15" name="Shape 13"/>
          <p:cNvSpPr/>
          <p:nvPr/>
        </p:nvSpPr>
        <p:spPr>
          <a:xfrm>
            <a:off x="8855075" y="3166070"/>
            <a:ext cx="2520950" cy="2672755"/>
          </a:xfrm>
          <a:prstGeom prst="roundRect">
            <a:avLst>
              <a:gd name="adj" fmla="val 3904"/>
            </a:avLst>
          </a:prstGeom>
          <a:solidFill>
            <a:srgbClr val="F1F5F9"/>
          </a:solidFill>
          <a:ln w="6350">
            <a:solidFill>
              <a:srgbClr val="E2E8F0"/>
            </a:solidFill>
            <a:prstDash val="solid"/>
          </a:ln>
        </p:spPr>
      </p:sp>
      <p:sp>
        <p:nvSpPr>
          <p:cNvPr id="16" name="Text 14"/>
          <p:cNvSpPr/>
          <p:nvPr/>
        </p:nvSpPr>
        <p:spPr>
          <a:xfrm>
            <a:off x="91122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PEOPLE</a:t>
            </a:r>
            <a:endParaRPr lang="en-US" sz="1200" dirty="0"/>
          </a:p>
        </p:txBody>
      </p:sp>
      <p:sp>
        <p:nvSpPr>
          <p:cNvPr id="17" name="Text 15"/>
          <p:cNvSpPr/>
          <p:nvPr/>
        </p:nvSpPr>
        <p:spPr>
          <a:xfrm>
            <a:off x="9112250" y="372546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A named owner</a:t>
            </a:r>
            <a:endParaRPr lang="en-US" sz="1800" dirty="0"/>
          </a:p>
        </p:txBody>
      </p:sp>
      <p:sp>
        <p:nvSpPr>
          <p:cNvPr id="18" name="Text 16"/>
          <p:cNvSpPr/>
          <p:nvPr/>
        </p:nvSpPr>
        <p:spPr>
          <a:xfrm>
            <a:off x="9112250" y="4088606"/>
            <a:ext cx="206679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One person who keeps it updated and tunes alerts. There is no vendor support desk.</a:t>
            </a:r>
            <a:endParaRPr lang="en-US" sz="1400" dirty="0"/>
          </a:p>
        </p:txBody>
      </p:sp>
      <p:sp>
        <p:nvSpPr>
          <p:cNvPr id="19"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20" name="Image 0" descr="Officetech">    </p:cNvPr>
          <p:cNvPicPr>
            <a:picLocks noChangeAspect="1"/>
          </p:cNvPicPr>
          <p:nvPr/>
        </p:nvPicPr>
        <p:blipFill>
          <a:blip r:embed="rId1"/>
          <a:srcRect l="-105" r="-105" t="0" b="0"/>
          <a:stretch/>
        </p:blipFill>
        <p:spPr>
          <a:xfrm>
            <a:off x="10452100" y="6273800"/>
            <a:ext cx="927100" cy="279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981075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20817"/>
                </a:solidFill>
                <a:latin typeface="Inter" pitchFamily="34" charset="0"/>
                <a:ea typeface="Inter" pitchFamily="34" charset="-122"/>
                <a:cs typeface="Inter" pitchFamily="34" charset="-120"/>
              </a:rPr>
              <a:t>Proposed pilot: one POP first, then widen.</a:t>
            </a:r>
            <a:endParaRPr lang="en-US" sz="3600" dirty="0"/>
          </a:p>
        </p:txBody>
      </p:sp>
      <p:sp>
        <p:nvSpPr>
          <p:cNvPr id="3" name="Shape 1"/>
          <p:cNvSpPr/>
          <p:nvPr/>
        </p:nvSpPr>
        <p:spPr>
          <a:xfrm>
            <a:off x="815975" y="3536355"/>
            <a:ext cx="3414117" cy="2302470"/>
          </a:xfrm>
          <a:prstGeom prst="roundRect">
            <a:avLst>
              <a:gd name="adj" fmla="val 4275"/>
            </a:avLst>
          </a:prstGeom>
          <a:solidFill>
            <a:srgbClr val="F1F5F9"/>
          </a:solidFill>
          <a:ln w="6350">
            <a:solidFill>
              <a:srgbClr val="E2E8F0"/>
            </a:solidFill>
            <a:prstDash val="solid"/>
          </a:ln>
        </p:spPr>
      </p:sp>
      <p:sp>
        <p:nvSpPr>
          <p:cNvPr id="4" name="Text 2"/>
          <p:cNvSpPr/>
          <p:nvPr/>
        </p:nvSpPr>
        <p:spPr>
          <a:xfrm>
            <a:off x="1073150" y="3793530"/>
            <a:ext cx="29867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PHASE 1 · [WEEKS]</a:t>
            </a:r>
            <a:endParaRPr lang="en-US" sz="1200" dirty="0"/>
          </a:p>
        </p:txBody>
      </p:sp>
      <p:sp>
        <p:nvSpPr>
          <p:cNvPr id="5" name="Text 3"/>
          <p:cNvSpPr/>
          <p:nvPr/>
        </p:nvSpPr>
        <p:spPr>
          <a:xfrm>
            <a:off x="1073150" y="4108450"/>
            <a:ext cx="29867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20817"/>
                </a:solidFill>
                <a:latin typeface="Inter" pitchFamily="34" charset="0"/>
                <a:ea typeface="Inter" pitchFamily="34" charset="-122"/>
                <a:cs typeface="Inter" pitchFamily="34" charset="-120"/>
              </a:rPr>
              <a:t>Connect</a:t>
            </a:r>
            <a:endParaRPr lang="en-US" sz="2000" dirty="0"/>
          </a:p>
        </p:txBody>
      </p:sp>
      <p:sp>
        <p:nvSpPr>
          <p:cNvPr id="6" name="Text 4"/>
          <p:cNvSpPr/>
          <p:nvPr/>
        </p:nvSpPr>
        <p:spPr>
          <a:xfrm>
            <a:off x="1073150" y="4514850"/>
            <a:ext cx="298676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5569"/>
                </a:solidFill>
                <a:latin typeface="Inter" pitchFamily="34" charset="0"/>
                <a:ea typeface="Inter" pitchFamily="34" charset="-122"/>
                <a:cs typeface="Inter" pitchFamily="34" charset="-120"/>
              </a:rPr>
              <a:t>Add the management route and SNMP on the sectors of one POP. Confirm each appears in the dashboards.</a:t>
            </a:r>
            <a:endParaRPr lang="en-US" sz="1500" dirty="0"/>
          </a:p>
        </p:txBody>
      </p:sp>
      <p:sp>
        <p:nvSpPr>
          <p:cNvPr id="7" name="Shape 5"/>
          <p:cNvSpPr/>
          <p:nvPr/>
        </p:nvSpPr>
        <p:spPr>
          <a:xfrm>
            <a:off x="4388842" y="3536355"/>
            <a:ext cx="3414216" cy="2302470"/>
          </a:xfrm>
          <a:prstGeom prst="roundRect">
            <a:avLst>
              <a:gd name="adj" fmla="val 4275"/>
            </a:avLst>
          </a:prstGeom>
          <a:solidFill>
            <a:srgbClr val="F1F5F9"/>
          </a:solidFill>
          <a:ln w="6350">
            <a:solidFill>
              <a:srgbClr val="E2E8F0"/>
            </a:solidFill>
            <a:prstDash val="solid"/>
          </a:ln>
        </p:spPr>
      </p:sp>
      <p:sp>
        <p:nvSpPr>
          <p:cNvPr id="8" name="Text 6"/>
          <p:cNvSpPr/>
          <p:nvPr/>
        </p:nvSpPr>
        <p:spPr>
          <a:xfrm>
            <a:off x="4646017" y="3793530"/>
            <a:ext cx="298686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PHASE 2 · [WEEKS]</a:t>
            </a:r>
            <a:endParaRPr lang="en-US" sz="1200" dirty="0"/>
          </a:p>
        </p:txBody>
      </p:sp>
      <p:sp>
        <p:nvSpPr>
          <p:cNvPr id="9" name="Text 7"/>
          <p:cNvSpPr/>
          <p:nvPr/>
        </p:nvSpPr>
        <p:spPr>
          <a:xfrm>
            <a:off x="4646017" y="4108450"/>
            <a:ext cx="298686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20817"/>
                </a:solidFill>
                <a:latin typeface="Inter" pitchFamily="34" charset="0"/>
                <a:ea typeface="Inter" pitchFamily="34" charset="-122"/>
                <a:cs typeface="Inter" pitchFamily="34" charset="-120"/>
              </a:rPr>
              <a:t>Observe</a:t>
            </a:r>
            <a:endParaRPr lang="en-US" sz="2000" dirty="0"/>
          </a:p>
        </p:txBody>
      </p:sp>
      <p:sp>
        <p:nvSpPr>
          <p:cNvPr id="10" name="Text 8"/>
          <p:cNvSpPr/>
          <p:nvPr/>
        </p:nvSpPr>
        <p:spPr>
          <a:xfrm>
            <a:off x="4646017" y="4514850"/>
            <a:ext cx="298686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5569"/>
                </a:solidFill>
                <a:latin typeface="Inter" pitchFamily="34" charset="0"/>
                <a:ea typeface="Inter" pitchFamily="34" charset="-122"/>
                <a:cs typeface="Inter" pitchFamily="34" charset="-120"/>
              </a:rPr>
              <a:t>Tune capacity thresholds and alert routing. Compare what it flags with what customers report.</a:t>
            </a:r>
            <a:endParaRPr lang="en-US" sz="1500" dirty="0"/>
          </a:p>
        </p:txBody>
      </p:sp>
      <p:sp>
        <p:nvSpPr>
          <p:cNvPr id="11" name="Shape 9"/>
          <p:cNvSpPr/>
          <p:nvPr/>
        </p:nvSpPr>
        <p:spPr>
          <a:xfrm>
            <a:off x="7961809" y="3536355"/>
            <a:ext cx="3414216" cy="2302470"/>
          </a:xfrm>
          <a:prstGeom prst="roundRect">
            <a:avLst>
              <a:gd name="adj" fmla="val 4275"/>
            </a:avLst>
          </a:prstGeom>
          <a:solidFill>
            <a:srgbClr val="F1F5F9"/>
          </a:solidFill>
          <a:ln w="6350">
            <a:solidFill>
              <a:srgbClr val="E2E8F0"/>
            </a:solidFill>
            <a:prstDash val="solid"/>
          </a:ln>
        </p:spPr>
      </p:sp>
      <p:sp>
        <p:nvSpPr>
          <p:cNvPr id="12" name="Text 10"/>
          <p:cNvSpPr/>
          <p:nvPr/>
        </p:nvSpPr>
        <p:spPr>
          <a:xfrm>
            <a:off x="8218984" y="3793530"/>
            <a:ext cx="298686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PHASE 3 · [WEEKS]</a:t>
            </a:r>
            <a:endParaRPr lang="en-US" sz="1200" dirty="0"/>
          </a:p>
        </p:txBody>
      </p:sp>
      <p:sp>
        <p:nvSpPr>
          <p:cNvPr id="13" name="Text 11"/>
          <p:cNvSpPr/>
          <p:nvPr/>
        </p:nvSpPr>
        <p:spPr>
          <a:xfrm>
            <a:off x="8218984" y="4108450"/>
            <a:ext cx="298686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20817"/>
                </a:solidFill>
                <a:latin typeface="Inter" pitchFamily="34" charset="0"/>
                <a:ea typeface="Inter" pitchFamily="34" charset="-122"/>
                <a:cs typeface="Inter" pitchFamily="34" charset="-120"/>
              </a:rPr>
              <a:t>Decide</a:t>
            </a:r>
            <a:endParaRPr lang="en-US" sz="2000" dirty="0"/>
          </a:p>
        </p:txBody>
      </p:sp>
      <p:sp>
        <p:nvSpPr>
          <p:cNvPr id="14" name="Text 12"/>
          <p:cNvSpPr/>
          <p:nvPr/>
        </p:nvSpPr>
        <p:spPr>
          <a:xfrm>
            <a:off x="8218984" y="4514850"/>
            <a:ext cx="298686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5569"/>
                </a:solidFill>
                <a:latin typeface="Inter" pitchFamily="34" charset="0"/>
                <a:ea typeface="Inter" pitchFamily="34" charset="-122"/>
                <a:cs typeface="Inter" pitchFamily="34" charset="-120"/>
              </a:rPr>
              <a:t>Review against agreed success measures, then roll out to the remaining POPs.</a:t>
            </a:r>
            <a:endParaRPr lang="en-US" sz="1500" dirty="0"/>
          </a:p>
        </p:txBody>
      </p:sp>
      <p:sp>
        <p:nvSpPr>
          <p:cNvPr id="15" name="Text 13"/>
          <p:cNvSpPr/>
          <p:nvPr/>
        </p:nvSpPr>
        <p:spPr>
          <a:xfrm>
            <a:off x="812800" y="6238280"/>
            <a:ext cx="963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Success measures to agree: [outages detected before customer calls] · [false alarms per week] · [time to find the cause]</a:t>
            </a:r>
            <a:endParaRPr lang="en-US" sz="1200" dirty="0"/>
          </a:p>
        </p:txBody>
      </p:sp>
      <p:pic>
        <p:nvPicPr>
          <p:cNvPr id="16" name="Image 0" descr="Officetech">    </p:cNvPr>
          <p:cNvPicPr>
            <a:picLocks noChangeAspect="1"/>
          </p:cNvPicPr>
          <p:nvPr/>
        </p:nvPicPr>
        <p:blipFill>
          <a:blip r:embed="rId1"/>
          <a:srcRect l="-105" r="-105" t="0" b="0"/>
          <a:stretch/>
        </p:blipFill>
        <p:spPr>
          <a:xfrm>
            <a:off x="10452100" y="6273800"/>
            <a:ext cx="927100" cy="279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812800" y="812800"/>
            <a:ext cx="981075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20817"/>
                </a:solidFill>
                <a:latin typeface="Inter" pitchFamily="34" charset="0"/>
                <a:ea typeface="Inter" pitchFamily="34" charset="-122"/>
                <a:cs typeface="Inter" pitchFamily="34" charset="-120"/>
              </a:rPr>
              <a:t>How we judge the pilot.</a:t>
            </a:r>
            <a:endParaRPr lang="en-US" sz="3600" dirty="0"/>
          </a:p>
        </p:txBody>
      </p:sp>
      <p:sp>
        <p:nvSpPr>
          <p:cNvPr id="3" name="Shape 1"/>
          <p:cNvSpPr/>
          <p:nvPr/>
        </p:nvSpPr>
        <p:spPr>
          <a:xfrm>
            <a:off x="815975" y="3391892"/>
            <a:ext cx="3414117" cy="2446933"/>
          </a:xfrm>
          <a:prstGeom prst="roundRect">
            <a:avLst>
              <a:gd name="adj" fmla="val 4022"/>
            </a:avLst>
          </a:prstGeom>
          <a:solidFill>
            <a:srgbClr val="FFFFFF"/>
          </a:solidFill>
          <a:ln w="6350">
            <a:solidFill>
              <a:srgbClr val="E2E8F0"/>
            </a:solidFill>
            <a:prstDash val="solid"/>
          </a:ln>
        </p:spPr>
      </p:sp>
      <p:sp>
        <p:nvSpPr>
          <p:cNvPr id="4" name="Text 2"/>
          <p:cNvSpPr/>
          <p:nvPr/>
        </p:nvSpPr>
        <p:spPr>
          <a:xfrm>
            <a:off x="1073150" y="3649067"/>
            <a:ext cx="29867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DETECTION</a:t>
            </a:r>
            <a:endParaRPr lang="en-US" sz="1200" dirty="0"/>
          </a:p>
        </p:txBody>
      </p:sp>
      <p:sp>
        <p:nvSpPr>
          <p:cNvPr id="5" name="Text 3"/>
          <p:cNvSpPr/>
          <p:nvPr/>
        </p:nvSpPr>
        <p:spPr>
          <a:xfrm>
            <a:off x="1073150" y="3951288"/>
            <a:ext cx="2986760"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Outages flagged before a customer calls</a:t>
            </a:r>
            <a:endParaRPr lang="en-US" sz="1800" dirty="0"/>
          </a:p>
        </p:txBody>
      </p:sp>
      <p:sp>
        <p:nvSpPr>
          <p:cNvPr id="6" name="Text 4"/>
          <p:cNvSpPr/>
          <p:nvPr/>
        </p:nvSpPr>
        <p:spPr>
          <a:xfrm>
            <a:off x="1073150" y="4588669"/>
            <a:ext cx="298676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A4BCC"/>
                </a:solidFill>
                <a:latin typeface="Inter" pitchFamily="34" charset="0"/>
                <a:ea typeface="Inter" pitchFamily="34" charset="-122"/>
                <a:cs typeface="Inter" pitchFamily="34" charset="-120"/>
              </a:rPr>
              <a:t>≥ [80]%</a:t>
            </a:r>
            <a:endParaRPr lang="en-US" sz="3200" dirty="0"/>
          </a:p>
        </p:txBody>
      </p:sp>
      <p:sp>
        <p:nvSpPr>
          <p:cNvPr id="7" name="Text 5"/>
          <p:cNvSpPr/>
          <p:nvPr/>
        </p:nvSpPr>
        <p:spPr>
          <a:xfrm>
            <a:off x="1073150" y="5083969"/>
            <a:ext cx="29867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Compared with the pilot POP's own outage log.</a:t>
            </a:r>
            <a:endParaRPr lang="en-US" sz="1400" dirty="0"/>
          </a:p>
        </p:txBody>
      </p:sp>
      <p:sp>
        <p:nvSpPr>
          <p:cNvPr id="8" name="Shape 6"/>
          <p:cNvSpPr/>
          <p:nvPr/>
        </p:nvSpPr>
        <p:spPr>
          <a:xfrm>
            <a:off x="4388842" y="3391892"/>
            <a:ext cx="3414216" cy="2446933"/>
          </a:xfrm>
          <a:prstGeom prst="roundRect">
            <a:avLst>
              <a:gd name="adj" fmla="val 4022"/>
            </a:avLst>
          </a:prstGeom>
          <a:solidFill>
            <a:srgbClr val="FFFFFF"/>
          </a:solidFill>
          <a:ln w="6350">
            <a:solidFill>
              <a:srgbClr val="E2E8F0"/>
            </a:solidFill>
            <a:prstDash val="solid"/>
          </a:ln>
        </p:spPr>
      </p:sp>
      <p:sp>
        <p:nvSpPr>
          <p:cNvPr id="9" name="Text 7"/>
          <p:cNvSpPr/>
          <p:nvPr/>
        </p:nvSpPr>
        <p:spPr>
          <a:xfrm>
            <a:off x="4646017" y="3649067"/>
            <a:ext cx="298686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NOISE</a:t>
            </a:r>
            <a:endParaRPr lang="en-US" sz="1200" dirty="0"/>
          </a:p>
        </p:txBody>
      </p:sp>
      <p:sp>
        <p:nvSpPr>
          <p:cNvPr id="10" name="Text 8"/>
          <p:cNvSpPr/>
          <p:nvPr/>
        </p:nvSpPr>
        <p:spPr>
          <a:xfrm>
            <a:off x="4646017" y="3951288"/>
            <a:ext cx="298686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False alarms per week</a:t>
            </a:r>
            <a:endParaRPr lang="en-US" sz="1800" dirty="0"/>
          </a:p>
        </p:txBody>
      </p:sp>
      <p:sp>
        <p:nvSpPr>
          <p:cNvPr id="11" name="Text 9"/>
          <p:cNvSpPr/>
          <p:nvPr/>
        </p:nvSpPr>
        <p:spPr>
          <a:xfrm>
            <a:off x="4646017" y="4314428"/>
            <a:ext cx="2986862"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A4BCC"/>
                </a:solidFill>
                <a:latin typeface="Inter" pitchFamily="34" charset="0"/>
                <a:ea typeface="Inter" pitchFamily="34" charset="-122"/>
                <a:cs typeface="Inter" pitchFamily="34" charset="-120"/>
              </a:rPr>
              <a:t>≤ [5]</a:t>
            </a:r>
            <a:endParaRPr lang="en-US" sz="3200" dirty="0"/>
          </a:p>
        </p:txBody>
      </p:sp>
      <p:sp>
        <p:nvSpPr>
          <p:cNvPr id="12" name="Text 10"/>
          <p:cNvSpPr/>
          <p:nvPr/>
        </p:nvSpPr>
        <p:spPr>
          <a:xfrm>
            <a:off x="4646017" y="4809728"/>
            <a:ext cx="29868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Alerts that needed no action. Thresholds are tuned in phase 2.</a:t>
            </a:r>
            <a:endParaRPr lang="en-US" sz="1400" dirty="0"/>
          </a:p>
        </p:txBody>
      </p:sp>
      <p:sp>
        <p:nvSpPr>
          <p:cNvPr id="13" name="Shape 11"/>
          <p:cNvSpPr/>
          <p:nvPr/>
        </p:nvSpPr>
        <p:spPr>
          <a:xfrm>
            <a:off x="7961809" y="3391892"/>
            <a:ext cx="3414216" cy="2446933"/>
          </a:xfrm>
          <a:prstGeom prst="roundRect">
            <a:avLst>
              <a:gd name="adj" fmla="val 4022"/>
            </a:avLst>
          </a:prstGeom>
          <a:solidFill>
            <a:srgbClr val="FFFFFF"/>
          </a:solidFill>
          <a:ln w="6350">
            <a:solidFill>
              <a:srgbClr val="E2E8F0"/>
            </a:solidFill>
            <a:prstDash val="solid"/>
          </a:ln>
        </p:spPr>
      </p:sp>
      <p:sp>
        <p:nvSpPr>
          <p:cNvPr id="14" name="Text 12"/>
          <p:cNvSpPr/>
          <p:nvPr/>
        </p:nvSpPr>
        <p:spPr>
          <a:xfrm>
            <a:off x="8218984" y="3649067"/>
            <a:ext cx="298686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DIAGNOSIS</a:t>
            </a:r>
            <a:endParaRPr lang="en-US" sz="1200" dirty="0"/>
          </a:p>
        </p:txBody>
      </p:sp>
      <p:sp>
        <p:nvSpPr>
          <p:cNvPr id="15" name="Text 13"/>
          <p:cNvSpPr/>
          <p:nvPr/>
        </p:nvSpPr>
        <p:spPr>
          <a:xfrm>
            <a:off x="8218984" y="3951288"/>
            <a:ext cx="298686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Time to find the cause</a:t>
            </a:r>
            <a:endParaRPr lang="en-US" sz="1800" dirty="0"/>
          </a:p>
        </p:txBody>
      </p:sp>
      <p:sp>
        <p:nvSpPr>
          <p:cNvPr id="16" name="Text 14"/>
          <p:cNvSpPr/>
          <p:nvPr/>
        </p:nvSpPr>
        <p:spPr>
          <a:xfrm>
            <a:off x="8218984" y="4314428"/>
            <a:ext cx="2986862"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A4BCC"/>
                </a:solidFill>
                <a:latin typeface="Inter" pitchFamily="34" charset="0"/>
                <a:ea typeface="Inter" pitchFamily="34" charset="-122"/>
                <a:cs typeface="Inter" pitchFamily="34" charset="-120"/>
              </a:rPr>
              <a:t>≤ [10] min</a:t>
            </a:r>
            <a:endParaRPr lang="en-US" sz="3200" dirty="0"/>
          </a:p>
        </p:txBody>
      </p:sp>
      <p:sp>
        <p:nvSpPr>
          <p:cNvPr id="17" name="Text 15"/>
          <p:cNvSpPr/>
          <p:nvPr/>
        </p:nvSpPr>
        <p:spPr>
          <a:xfrm>
            <a:off x="8218984" y="4809728"/>
            <a:ext cx="29868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From first alert to the failing link, router or sector.</a:t>
            </a:r>
            <a:endParaRPr lang="en-US" sz="1400" dirty="0"/>
          </a:p>
        </p:txBody>
      </p:sp>
      <p:sp>
        <p:nvSpPr>
          <p:cNvPr id="18" name="Text 1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19" name="Image 0" descr="Officetech">    </p:cNvPr>
          <p:cNvPicPr>
            <a:picLocks noChangeAspect="1"/>
          </p:cNvPicPr>
          <p:nvPr/>
        </p:nvPicPr>
        <p:blipFill>
          <a:blip r:embed="rId1"/>
          <a:srcRect l="-105" r="-105" t="0" b="0"/>
          <a:stretch/>
        </p:blipFill>
        <p:spPr>
          <a:xfrm>
            <a:off x="10452100" y="6273800"/>
            <a:ext cx="927100" cy="2794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981075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20817"/>
                </a:solidFill>
                <a:latin typeface="Inter" pitchFamily="34" charset="0"/>
                <a:ea typeface="Inter" pitchFamily="34" charset="-122"/>
                <a:cs typeface="Inter" pitchFamily="34" charset="-120"/>
              </a:rPr>
              <a:t>After the pilot.</a:t>
            </a:r>
            <a:endParaRPr lang="en-US" sz="3600" dirty="0"/>
          </a:p>
        </p:txBody>
      </p:sp>
      <p:sp>
        <p:nvSpPr>
          <p:cNvPr id="3" name="Shape 1"/>
          <p:cNvSpPr/>
          <p:nvPr/>
        </p:nvSpPr>
        <p:spPr>
          <a:xfrm>
            <a:off x="815975" y="3389511"/>
            <a:ext cx="2520950" cy="2449314"/>
          </a:xfrm>
          <a:prstGeom prst="roundRect">
            <a:avLst>
              <a:gd name="adj" fmla="val 4018"/>
            </a:avLst>
          </a:prstGeom>
          <a:solidFill>
            <a:srgbClr val="F1F5F9"/>
          </a:solidFill>
          <a:ln w="6350">
            <a:solidFill>
              <a:srgbClr val="E2E8F0"/>
            </a:solidFill>
            <a:prstDash val="solid"/>
          </a:ln>
        </p:spPr>
      </p:sp>
      <p:sp>
        <p:nvSpPr>
          <p:cNvPr id="4" name="Text 2"/>
          <p:cNvSpPr/>
          <p:nvPr/>
        </p:nvSpPr>
        <p:spPr>
          <a:xfrm>
            <a:off x="1073150" y="3646686"/>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NEXT</a:t>
            </a:r>
            <a:endParaRPr lang="en-US" sz="1200" dirty="0"/>
          </a:p>
        </p:txBody>
      </p:sp>
      <p:sp>
        <p:nvSpPr>
          <p:cNvPr id="5" name="Text 3"/>
          <p:cNvSpPr/>
          <p:nvPr/>
        </p:nvSpPr>
        <p:spPr>
          <a:xfrm>
            <a:off x="1073150" y="394890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Remaining POPs</a:t>
            </a:r>
            <a:endParaRPr lang="en-US" sz="1800" dirty="0"/>
          </a:p>
        </p:txBody>
      </p:sp>
      <p:sp>
        <p:nvSpPr>
          <p:cNvPr id="6" name="Text 4"/>
          <p:cNvSpPr/>
          <p:nvPr/>
        </p:nvSpPr>
        <p:spPr>
          <a:xfrm>
            <a:off x="1073150" y="4312047"/>
            <a:ext cx="206679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Roll out sector by sector once the pilot measures are met.</a:t>
            </a:r>
            <a:endParaRPr lang="en-US" sz="1400" dirty="0"/>
          </a:p>
        </p:txBody>
      </p:sp>
      <p:sp>
        <p:nvSpPr>
          <p:cNvPr id="7" name="Shape 5"/>
          <p:cNvSpPr/>
          <p:nvPr/>
        </p:nvSpPr>
        <p:spPr>
          <a:xfrm>
            <a:off x="3495675" y="3389511"/>
            <a:ext cx="2520950" cy="2449314"/>
          </a:xfrm>
          <a:prstGeom prst="roundRect">
            <a:avLst>
              <a:gd name="adj" fmla="val 4018"/>
            </a:avLst>
          </a:prstGeom>
          <a:solidFill>
            <a:srgbClr val="F1F5F9"/>
          </a:solidFill>
          <a:ln w="6350">
            <a:solidFill>
              <a:srgbClr val="E2E8F0"/>
            </a:solidFill>
            <a:prstDash val="solid"/>
          </a:ln>
        </p:spPr>
      </p:sp>
      <p:sp>
        <p:nvSpPr>
          <p:cNvPr id="8" name="Text 6"/>
          <p:cNvSpPr/>
          <p:nvPr/>
        </p:nvSpPr>
        <p:spPr>
          <a:xfrm>
            <a:off x="3752850" y="3646686"/>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IN PROGRESS</a:t>
            </a:r>
            <a:endParaRPr lang="en-US" sz="1200" dirty="0"/>
          </a:p>
        </p:txBody>
      </p:sp>
      <p:sp>
        <p:nvSpPr>
          <p:cNvPr id="9" name="Text 7"/>
          <p:cNvSpPr/>
          <p:nvPr/>
        </p:nvSpPr>
        <p:spPr>
          <a:xfrm>
            <a:off x="3752850" y="3948906"/>
            <a:ext cx="2066798"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Per-subscriber PPPoE detail</a:t>
            </a:r>
            <a:endParaRPr lang="en-US" sz="1800" dirty="0"/>
          </a:p>
        </p:txBody>
      </p:sp>
      <p:sp>
        <p:nvSpPr>
          <p:cNvPr id="10" name="Text 8"/>
          <p:cNvSpPr/>
          <p:nvPr/>
        </p:nvSpPr>
        <p:spPr>
          <a:xfrm>
            <a:off x="3752850" y="4586288"/>
            <a:ext cx="206679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Session-level views per subscriber, building on today's subscriber overview.</a:t>
            </a:r>
            <a:endParaRPr lang="en-US" sz="1400" dirty="0"/>
          </a:p>
        </p:txBody>
      </p:sp>
      <p:sp>
        <p:nvSpPr>
          <p:cNvPr id="11" name="Shape 9"/>
          <p:cNvSpPr/>
          <p:nvPr/>
        </p:nvSpPr>
        <p:spPr>
          <a:xfrm>
            <a:off x="6175375" y="3389511"/>
            <a:ext cx="2520950" cy="2449314"/>
          </a:xfrm>
          <a:prstGeom prst="roundRect">
            <a:avLst>
              <a:gd name="adj" fmla="val 4018"/>
            </a:avLst>
          </a:prstGeom>
          <a:solidFill>
            <a:srgbClr val="F1F5F9"/>
          </a:solidFill>
          <a:ln w="6350">
            <a:solidFill>
              <a:srgbClr val="E2E8F0"/>
            </a:solidFill>
            <a:prstDash val="solid"/>
          </a:ln>
        </p:spPr>
      </p:sp>
      <p:sp>
        <p:nvSpPr>
          <p:cNvPr id="12" name="Text 10"/>
          <p:cNvSpPr/>
          <p:nvPr/>
        </p:nvSpPr>
        <p:spPr>
          <a:xfrm>
            <a:off x="6432550" y="3646686"/>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PLANNED</a:t>
            </a:r>
            <a:endParaRPr lang="en-US" sz="1200" dirty="0"/>
          </a:p>
        </p:txBody>
      </p:sp>
      <p:sp>
        <p:nvSpPr>
          <p:cNvPr id="13" name="Text 11"/>
          <p:cNvSpPr/>
          <p:nvPr/>
        </p:nvSpPr>
        <p:spPr>
          <a:xfrm>
            <a:off x="6432550" y="394890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Log search</a:t>
            </a:r>
            <a:endParaRPr lang="en-US" sz="1800" dirty="0"/>
          </a:p>
        </p:txBody>
      </p:sp>
      <p:sp>
        <p:nvSpPr>
          <p:cNvPr id="14" name="Text 12"/>
          <p:cNvSpPr/>
          <p:nvPr/>
        </p:nvSpPr>
        <p:spPr>
          <a:xfrm>
            <a:off x="6432550" y="4312047"/>
            <a:ext cx="206679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Router and sector logs searchable beside the graphs, using Loki.</a:t>
            </a:r>
            <a:endParaRPr lang="en-US" sz="1400" dirty="0"/>
          </a:p>
        </p:txBody>
      </p:sp>
      <p:sp>
        <p:nvSpPr>
          <p:cNvPr id="15" name="Shape 13"/>
          <p:cNvSpPr/>
          <p:nvPr/>
        </p:nvSpPr>
        <p:spPr>
          <a:xfrm>
            <a:off x="8855075" y="3389511"/>
            <a:ext cx="2520950" cy="2449314"/>
          </a:xfrm>
          <a:prstGeom prst="roundRect">
            <a:avLst>
              <a:gd name="adj" fmla="val 4018"/>
            </a:avLst>
          </a:prstGeom>
          <a:solidFill>
            <a:srgbClr val="F1F5F9"/>
          </a:solidFill>
          <a:ln w="6350">
            <a:solidFill>
              <a:srgbClr val="E2E8F0"/>
            </a:solidFill>
            <a:prstDash val="solid"/>
          </a:ln>
        </p:spPr>
      </p:sp>
      <p:sp>
        <p:nvSpPr>
          <p:cNvPr id="16" name="Text 14"/>
          <p:cNvSpPr/>
          <p:nvPr/>
        </p:nvSpPr>
        <p:spPr>
          <a:xfrm>
            <a:off x="9112250" y="3646686"/>
            <a:ext cx="2066798"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BUILT, TUNING IN PILOT</a:t>
            </a:r>
            <a:endParaRPr lang="en-US" sz="1200" dirty="0"/>
          </a:p>
        </p:txBody>
      </p:sp>
      <p:sp>
        <p:nvSpPr>
          <p:cNvPr id="17" name="Text 15"/>
          <p:cNvSpPr/>
          <p:nvPr/>
        </p:nvSpPr>
        <p:spPr>
          <a:xfrm>
            <a:off x="9112250" y="4162227"/>
            <a:ext cx="22606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Capacity planning</a:t>
            </a:r>
            <a:endParaRPr lang="en-US" sz="1800" dirty="0"/>
          </a:p>
        </p:txBody>
      </p:sp>
      <p:sp>
        <p:nvSpPr>
          <p:cNvPr id="18" name="Text 16"/>
          <p:cNvSpPr/>
          <p:nvPr/>
        </p:nvSpPr>
        <p:spPr>
          <a:xfrm>
            <a:off x="9112250" y="4525367"/>
            <a:ext cx="206679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A daily 08:00 digest of sectors nearing their client or throughput limits.</a:t>
            </a:r>
            <a:endParaRPr lang="en-US" sz="1400" dirty="0"/>
          </a:p>
        </p:txBody>
      </p:sp>
      <p:sp>
        <p:nvSpPr>
          <p:cNvPr id="19"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20" name="Image 0" descr="Officetech">    </p:cNvPr>
          <p:cNvPicPr>
            <a:picLocks noChangeAspect="1"/>
          </p:cNvPicPr>
          <p:nvPr/>
        </p:nvPicPr>
        <p:blipFill>
          <a:blip r:embed="rId1"/>
          <a:srcRect l="-105" r="-105" t="0" b="0"/>
          <a:stretch/>
        </p:blipFill>
        <p:spPr>
          <a:xfrm>
            <a:off x="10452100" y="6273800"/>
            <a:ext cx="927100" cy="2794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4BCC"/>
        </a:solidFill>
      </p:bgPr>
    </p:bg>
    <p:spTree>
      <p:nvGrpSpPr>
        <p:cNvPr id="1" name=""/>
        <p:cNvGrpSpPr/>
        <p:nvPr/>
      </p:nvGrpSpPr>
      <p:grpSpPr>
        <a:xfrm>
          <a:off x="0" y="0"/>
          <a:ext cx="0" cy="0"/>
          <a:chOff x="0" y="0"/>
          <a:chExt cx="0" cy="0"/>
        </a:xfrm>
      </p:grpSpPr>
      <p:sp>
        <p:nvSpPr>
          <p:cNvPr id="2" name="Shape 0"/>
          <p:cNvSpPr/>
          <p:nvPr/>
        </p:nvSpPr>
        <p:spPr>
          <a:xfrm>
            <a:off x="9499600" y="609600"/>
            <a:ext cx="1879600" cy="660400"/>
          </a:xfrm>
          <a:prstGeom prst="roundRect">
            <a:avLst>
              <a:gd name="adj" fmla="val 15385"/>
            </a:avLst>
          </a:prstGeom>
          <a:solidFill>
            <a:srgbClr val="FFFFFF"/>
          </a:solidFill>
          <a:ln/>
        </p:spPr>
      </p:sp>
      <p:pic>
        <p:nvPicPr>
          <p:cNvPr id="3" name="Image 0" descr="Officetech">    </p:cNvPr>
          <p:cNvPicPr>
            <a:picLocks noChangeAspect="1"/>
          </p:cNvPicPr>
          <p:nvPr/>
        </p:nvPicPr>
        <p:blipFill>
          <a:blip r:embed="rId1"/>
          <a:srcRect l="-333" r="-333" t="0" b="0"/>
          <a:stretch/>
        </p:blipFill>
        <p:spPr>
          <a:xfrm>
            <a:off x="9677400" y="711200"/>
            <a:ext cx="1524000" cy="457200"/>
          </a:xfrm>
          <a:prstGeom prst="rect">
            <a:avLst/>
          </a:prstGeom>
        </p:spPr>
      </p:pic>
      <p:sp>
        <p:nvSpPr>
          <p:cNvPr id="4" name="Text 1"/>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FFFFF"/>
                </a:solidFill>
                <a:latin typeface="Inter" pitchFamily="34" charset="0"/>
                <a:ea typeface="Inter" pitchFamily="34" charset="-122"/>
                <a:cs typeface="Inter" pitchFamily="34" charset="-120"/>
              </a:rPr>
              <a:t>THE ASK</a:t>
            </a:r>
            <a:endParaRPr lang="en-US" sz="1400" dirty="0"/>
          </a:p>
        </p:txBody>
      </p:sp>
      <p:sp>
        <p:nvSpPr>
          <p:cNvPr id="5" name="Text 2"/>
          <p:cNvSpPr/>
          <p:nvPr/>
        </p:nvSpPr>
        <p:spPr>
          <a:xfrm>
            <a:off x="812800" y="1214041"/>
            <a:ext cx="9810750"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FFFFFF"/>
                </a:solidFill>
                <a:latin typeface="Inter" pitchFamily="34" charset="0"/>
                <a:ea typeface="Inter" pitchFamily="34" charset="-122"/>
                <a:cs typeface="Inter" pitchFamily="34" charset="-120"/>
              </a:rPr>
              <a:t>Approve a pilot on one POP.</a:t>
            </a:r>
            <a:endParaRPr lang="en-US" sz="4000" dirty="0"/>
          </a:p>
        </p:txBody>
      </p:sp>
      <p:sp>
        <p:nvSpPr>
          <p:cNvPr id="6" name="Shape 3"/>
          <p:cNvSpPr/>
          <p:nvPr/>
        </p:nvSpPr>
        <p:spPr>
          <a:xfrm>
            <a:off x="812800" y="4419600"/>
            <a:ext cx="3386634" cy="1422400"/>
          </a:xfrm>
          <a:prstGeom prst="roundRect">
            <a:avLst>
              <a:gd name="adj" fmla="val 7143"/>
            </a:avLst>
          </a:prstGeom>
          <a:solidFill>
            <a:srgbClr val="FFFFFF"/>
          </a:solidFill>
          <a:ln/>
        </p:spPr>
      </p:sp>
      <p:sp>
        <p:nvSpPr>
          <p:cNvPr id="7" name="Text 4"/>
          <p:cNvSpPr/>
          <p:nvPr/>
        </p:nvSpPr>
        <p:spPr>
          <a:xfrm>
            <a:off x="1066800" y="467360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20817"/>
                </a:solidFill>
                <a:latin typeface="Inter" pitchFamily="34" charset="0"/>
                <a:ea typeface="Inter" pitchFamily="34" charset="-122"/>
                <a:cs typeface="Inter" pitchFamily="34" charset="-120"/>
              </a:rPr>
              <a:t>Choose the POP</a:t>
            </a:r>
            <a:endParaRPr lang="en-US" sz="2000" dirty="0"/>
          </a:p>
        </p:txBody>
      </p:sp>
      <p:sp>
        <p:nvSpPr>
          <p:cNvPr id="8" name="Text 5"/>
          <p:cNvSpPr/>
          <p:nvPr/>
        </p:nvSpPr>
        <p:spPr>
          <a:xfrm>
            <a:off x="1066800" y="5054600"/>
            <a:ext cx="296499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20817"/>
                </a:solidFill>
                <a:latin typeface="Inter" pitchFamily="34" charset="0"/>
                <a:ea typeface="Inter" pitchFamily="34" charset="-122"/>
                <a:cs typeface="Inter" pitchFamily="34" charset="-120"/>
              </a:rPr>
              <a:t>Pick the site and its sectors for the pilot.</a:t>
            </a:r>
            <a:endParaRPr lang="en-US" sz="1500" dirty="0"/>
          </a:p>
        </p:txBody>
      </p:sp>
      <p:sp>
        <p:nvSpPr>
          <p:cNvPr id="9" name="Shape 6"/>
          <p:cNvSpPr/>
          <p:nvPr/>
        </p:nvSpPr>
        <p:spPr>
          <a:xfrm>
            <a:off x="4402634" y="4419600"/>
            <a:ext cx="3386733" cy="1422400"/>
          </a:xfrm>
          <a:prstGeom prst="roundRect">
            <a:avLst>
              <a:gd name="adj" fmla="val 7143"/>
            </a:avLst>
          </a:prstGeom>
          <a:solidFill>
            <a:srgbClr val="FFFFFF"/>
          </a:solidFill>
          <a:ln/>
        </p:spPr>
      </p:sp>
      <p:sp>
        <p:nvSpPr>
          <p:cNvPr id="10" name="Text 7"/>
          <p:cNvSpPr/>
          <p:nvPr/>
        </p:nvSpPr>
        <p:spPr>
          <a:xfrm>
            <a:off x="4656634" y="4673600"/>
            <a:ext cx="29650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20817"/>
                </a:solidFill>
                <a:latin typeface="Inter" pitchFamily="34" charset="0"/>
                <a:ea typeface="Inter" pitchFamily="34" charset="-122"/>
                <a:cs typeface="Inter" pitchFamily="34" charset="-120"/>
              </a:rPr>
              <a:t>Assign an engineer</a:t>
            </a:r>
            <a:endParaRPr lang="en-US" sz="2000" dirty="0"/>
          </a:p>
        </p:txBody>
      </p:sp>
      <p:sp>
        <p:nvSpPr>
          <p:cNvPr id="11" name="Text 8"/>
          <p:cNvSpPr/>
          <p:nvPr/>
        </p:nvSpPr>
        <p:spPr>
          <a:xfrm>
            <a:off x="4656634" y="5054600"/>
            <a:ext cx="296509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20817"/>
                </a:solidFill>
                <a:latin typeface="Inter" pitchFamily="34" charset="0"/>
                <a:ea typeface="Inter" pitchFamily="34" charset="-122"/>
                <a:cs typeface="Inter" pitchFamily="34" charset="-120"/>
              </a:rPr>
              <a:t>To apply the route and SNMP change on each sector.</a:t>
            </a:r>
            <a:endParaRPr lang="en-US" sz="1500" dirty="0"/>
          </a:p>
        </p:txBody>
      </p:sp>
      <p:sp>
        <p:nvSpPr>
          <p:cNvPr id="12" name="Shape 9"/>
          <p:cNvSpPr/>
          <p:nvPr/>
        </p:nvSpPr>
        <p:spPr>
          <a:xfrm>
            <a:off x="7992566" y="4419600"/>
            <a:ext cx="3386634" cy="1422400"/>
          </a:xfrm>
          <a:prstGeom prst="roundRect">
            <a:avLst>
              <a:gd name="adj" fmla="val 7143"/>
            </a:avLst>
          </a:prstGeom>
          <a:solidFill>
            <a:srgbClr val="FFFFFF"/>
          </a:solidFill>
          <a:ln/>
        </p:spPr>
      </p:sp>
      <p:sp>
        <p:nvSpPr>
          <p:cNvPr id="13" name="Text 10"/>
          <p:cNvSpPr/>
          <p:nvPr/>
        </p:nvSpPr>
        <p:spPr>
          <a:xfrm>
            <a:off x="8246566" y="467360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20817"/>
                </a:solidFill>
                <a:latin typeface="Inter" pitchFamily="34" charset="0"/>
                <a:ea typeface="Inter" pitchFamily="34" charset="-122"/>
                <a:cs typeface="Inter" pitchFamily="34" charset="-120"/>
              </a:rPr>
              <a:t>Agree the measures</a:t>
            </a:r>
            <a:endParaRPr lang="en-US" sz="2000" dirty="0"/>
          </a:p>
        </p:txBody>
      </p:sp>
      <p:sp>
        <p:nvSpPr>
          <p:cNvPr id="14" name="Text 11"/>
          <p:cNvSpPr/>
          <p:nvPr/>
        </p:nvSpPr>
        <p:spPr>
          <a:xfrm>
            <a:off x="8246566" y="5054600"/>
            <a:ext cx="296499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20817"/>
                </a:solidFill>
                <a:latin typeface="Inter" pitchFamily="34" charset="0"/>
                <a:ea typeface="Inter" pitchFamily="34" charset="-122"/>
                <a:cs typeface="Inter" pitchFamily="34" charset="-120"/>
              </a:rPr>
              <a:t>Decide how we judge the pilot a success.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981075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20817"/>
                </a:solidFill>
                <a:latin typeface="Inter" pitchFamily="34" charset="0"/>
                <a:ea typeface="Inter" pitchFamily="34" charset="-122"/>
                <a:cs typeface="Inter" pitchFamily="34" charset="-120"/>
              </a:rPr>
              <a:t>How the server itself is kept safe.</a:t>
            </a:r>
            <a:endParaRPr lang="en-US" sz="3600" dirty="0"/>
          </a:p>
        </p:txBody>
      </p:sp>
      <p:sp>
        <p:nvSpPr>
          <p:cNvPr id="3" name="Shape 1"/>
          <p:cNvSpPr/>
          <p:nvPr/>
        </p:nvSpPr>
        <p:spPr>
          <a:xfrm>
            <a:off x="815975" y="3166070"/>
            <a:ext cx="2520950" cy="2672755"/>
          </a:xfrm>
          <a:prstGeom prst="roundRect">
            <a:avLst>
              <a:gd name="adj" fmla="val 3904"/>
            </a:avLst>
          </a:prstGeom>
          <a:solidFill>
            <a:srgbClr val="F1F5F9"/>
          </a:solidFill>
          <a:ln w="6350">
            <a:solidFill>
              <a:srgbClr val="E2E8F0"/>
            </a:solidFill>
            <a:prstDash val="solid"/>
          </a:ln>
        </p:spPr>
      </p:sp>
      <p:sp>
        <p:nvSpPr>
          <p:cNvPr id="4" name="Text 2"/>
          <p:cNvSpPr/>
          <p:nvPr/>
        </p:nvSpPr>
        <p:spPr>
          <a:xfrm>
            <a:off x="10731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FIREWALL</a:t>
            </a:r>
            <a:endParaRPr lang="en-US" sz="1200" dirty="0"/>
          </a:p>
        </p:txBody>
      </p:sp>
      <p:sp>
        <p:nvSpPr>
          <p:cNvPr id="5" name="Text 3"/>
          <p:cNvSpPr/>
          <p:nvPr/>
        </p:nvSpPr>
        <p:spPr>
          <a:xfrm>
            <a:off x="1073150" y="372546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Ports restricted</a:t>
            </a:r>
            <a:endParaRPr lang="en-US" sz="1800" dirty="0"/>
          </a:p>
        </p:txBody>
      </p:sp>
      <p:sp>
        <p:nvSpPr>
          <p:cNvPr id="6" name="Text 4"/>
          <p:cNvSpPr/>
          <p:nvPr/>
        </p:nvSpPr>
        <p:spPr>
          <a:xfrm>
            <a:off x="1073150" y="4088606"/>
            <a:ext cx="2066798"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Dashboards open only to NOC workstations. Probe ports are closed to everyone but the server.</a:t>
            </a:r>
            <a:endParaRPr lang="en-US" sz="1400" dirty="0"/>
          </a:p>
        </p:txBody>
      </p:sp>
      <p:sp>
        <p:nvSpPr>
          <p:cNvPr id="7" name="Shape 5"/>
          <p:cNvSpPr/>
          <p:nvPr/>
        </p:nvSpPr>
        <p:spPr>
          <a:xfrm>
            <a:off x="3495675" y="3166070"/>
            <a:ext cx="2520950" cy="2672755"/>
          </a:xfrm>
          <a:prstGeom prst="roundRect">
            <a:avLst>
              <a:gd name="adj" fmla="val 3904"/>
            </a:avLst>
          </a:prstGeom>
          <a:solidFill>
            <a:srgbClr val="F1F5F9"/>
          </a:solidFill>
          <a:ln w="6350">
            <a:solidFill>
              <a:srgbClr val="E2E8F0"/>
            </a:solidFill>
            <a:prstDash val="solid"/>
          </a:ln>
        </p:spPr>
      </p:sp>
      <p:sp>
        <p:nvSpPr>
          <p:cNvPr id="8" name="Text 6"/>
          <p:cNvSpPr/>
          <p:nvPr/>
        </p:nvSpPr>
        <p:spPr>
          <a:xfrm>
            <a:off x="37528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DEVICES</a:t>
            </a:r>
            <a:endParaRPr lang="en-US" sz="1200" dirty="0"/>
          </a:p>
        </p:txBody>
      </p:sp>
      <p:sp>
        <p:nvSpPr>
          <p:cNvPr id="9" name="Text 7"/>
          <p:cNvSpPr/>
          <p:nvPr/>
        </p:nvSpPr>
        <p:spPr>
          <a:xfrm>
            <a:off x="3752850" y="372546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Locked at source</a:t>
            </a:r>
            <a:endParaRPr lang="en-US" sz="1800" dirty="0"/>
          </a:p>
        </p:txBody>
      </p:sp>
      <p:sp>
        <p:nvSpPr>
          <p:cNvPr id="10" name="Text 8"/>
          <p:cNvSpPr/>
          <p:nvPr/>
        </p:nvSpPr>
        <p:spPr>
          <a:xfrm>
            <a:off x="3752850" y="4088606"/>
            <a:ext cx="2066798"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Each router and sector accepts SNMP and API only from the monitoring server's address.</a:t>
            </a:r>
            <a:endParaRPr lang="en-US" sz="1400" dirty="0"/>
          </a:p>
        </p:txBody>
      </p:sp>
      <p:sp>
        <p:nvSpPr>
          <p:cNvPr id="11" name="Shape 9"/>
          <p:cNvSpPr/>
          <p:nvPr/>
        </p:nvSpPr>
        <p:spPr>
          <a:xfrm>
            <a:off x="6175375" y="3166070"/>
            <a:ext cx="2520950" cy="2672755"/>
          </a:xfrm>
          <a:prstGeom prst="roundRect">
            <a:avLst>
              <a:gd name="adj" fmla="val 3904"/>
            </a:avLst>
          </a:prstGeom>
          <a:solidFill>
            <a:srgbClr val="F1F5F9"/>
          </a:solidFill>
          <a:ln w="6350">
            <a:solidFill>
              <a:srgbClr val="E2E8F0"/>
            </a:solidFill>
            <a:prstDash val="solid"/>
          </a:ln>
        </p:spPr>
      </p:sp>
      <p:sp>
        <p:nvSpPr>
          <p:cNvPr id="12" name="Text 10"/>
          <p:cNvSpPr/>
          <p:nvPr/>
        </p:nvSpPr>
        <p:spPr>
          <a:xfrm>
            <a:off x="64325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HARDENING</a:t>
            </a:r>
            <a:endParaRPr lang="en-US" sz="1200" dirty="0"/>
          </a:p>
        </p:txBody>
      </p:sp>
      <p:sp>
        <p:nvSpPr>
          <p:cNvPr id="13" name="Text 11"/>
          <p:cNvSpPr/>
          <p:nvPr/>
        </p:nvSpPr>
        <p:spPr>
          <a:xfrm>
            <a:off x="6432550" y="3725466"/>
            <a:ext cx="2066798"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Pinned and patched</a:t>
            </a:r>
            <a:endParaRPr lang="en-US" sz="1800" dirty="0"/>
          </a:p>
        </p:txBody>
      </p:sp>
      <p:sp>
        <p:nvSpPr>
          <p:cNvPr id="14" name="Text 12"/>
          <p:cNvSpPr/>
          <p:nvPr/>
        </p:nvSpPr>
        <p:spPr>
          <a:xfrm>
            <a:off x="6432550" y="4362847"/>
            <a:ext cx="206679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Version-pinned images, no auto-update, SSH keys only, strong Grafana password, viewer accounts for staff.</a:t>
            </a:r>
            <a:endParaRPr lang="en-US" sz="1400" dirty="0"/>
          </a:p>
        </p:txBody>
      </p:sp>
      <p:sp>
        <p:nvSpPr>
          <p:cNvPr id="15" name="Shape 13"/>
          <p:cNvSpPr/>
          <p:nvPr/>
        </p:nvSpPr>
        <p:spPr>
          <a:xfrm>
            <a:off x="8855075" y="3166070"/>
            <a:ext cx="2520950" cy="2672755"/>
          </a:xfrm>
          <a:prstGeom prst="roundRect">
            <a:avLst>
              <a:gd name="adj" fmla="val 3904"/>
            </a:avLst>
          </a:prstGeom>
          <a:solidFill>
            <a:srgbClr val="F1F5F9"/>
          </a:solidFill>
          <a:ln w="6350">
            <a:solidFill>
              <a:srgbClr val="E2E8F0"/>
            </a:solidFill>
            <a:prstDash val="solid"/>
          </a:ln>
        </p:spPr>
      </p:sp>
      <p:sp>
        <p:nvSpPr>
          <p:cNvPr id="16" name="Text 14"/>
          <p:cNvSpPr/>
          <p:nvPr/>
        </p:nvSpPr>
        <p:spPr>
          <a:xfrm>
            <a:off x="91122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TO KNOW</a:t>
            </a:r>
            <a:endParaRPr lang="en-US" sz="1200" dirty="0"/>
          </a:p>
        </p:txBody>
      </p:sp>
      <p:sp>
        <p:nvSpPr>
          <p:cNvPr id="17" name="Text 15"/>
          <p:cNvSpPr/>
          <p:nvPr/>
        </p:nvSpPr>
        <p:spPr>
          <a:xfrm>
            <a:off x="9112250" y="372546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Honest limits</a:t>
            </a:r>
            <a:endParaRPr lang="en-US" sz="1800" dirty="0"/>
          </a:p>
        </p:txBody>
      </p:sp>
      <p:sp>
        <p:nvSpPr>
          <p:cNvPr id="18" name="Text 16"/>
          <p:cNvSpPr/>
          <p:nvPr/>
        </p:nvSpPr>
        <p:spPr>
          <a:xfrm>
            <a:off x="9112250" y="4088606"/>
            <a:ext cx="206679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SNMPv2c is cleartext on the management network, and the server holds read-only logins. Guard it.</a:t>
            </a:r>
            <a:endParaRPr lang="en-US" sz="1400" dirty="0"/>
          </a:p>
        </p:txBody>
      </p:sp>
      <p:sp>
        <p:nvSpPr>
          <p:cNvPr id="19"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20" name="Image 0" descr="Officetech">    </p:cNvPr>
          <p:cNvPicPr>
            <a:picLocks noChangeAspect="1"/>
          </p:cNvPicPr>
          <p:nvPr/>
        </p:nvPicPr>
        <p:blipFill>
          <a:blip r:embed="rId1"/>
          <a:srcRect l="-105" r="-105" t="0" b="0"/>
          <a:stretch/>
        </p:blipFill>
        <p:spPr>
          <a:xfrm>
            <a:off x="10452100" y="6273800"/>
            <a:ext cx="927100" cy="279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981075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20817"/>
                </a:solidFill>
                <a:latin typeface="Inter" pitchFamily="34" charset="0"/>
                <a:ea typeface="Inter" pitchFamily="34" charset="-122"/>
                <a:cs typeface="Inter" pitchFamily="34" charset="-120"/>
              </a:rPr>
              <a:t>No new way into the network.</a:t>
            </a:r>
            <a:endParaRPr lang="en-US" sz="3600" dirty="0"/>
          </a:p>
        </p:txBody>
      </p:sp>
      <p:sp>
        <p:nvSpPr>
          <p:cNvPr id="3" name="Shape 1"/>
          <p:cNvSpPr/>
          <p:nvPr/>
        </p:nvSpPr>
        <p:spPr>
          <a:xfrm>
            <a:off x="815975" y="3166070"/>
            <a:ext cx="2520950" cy="2672755"/>
          </a:xfrm>
          <a:prstGeom prst="roundRect">
            <a:avLst>
              <a:gd name="adj" fmla="val 3904"/>
            </a:avLst>
          </a:prstGeom>
          <a:solidFill>
            <a:srgbClr val="F1F5F9"/>
          </a:solidFill>
          <a:ln w="6350">
            <a:solidFill>
              <a:srgbClr val="E2E8F0"/>
            </a:solidFill>
            <a:prstDash val="solid"/>
          </a:ln>
        </p:spPr>
      </p:sp>
      <p:sp>
        <p:nvSpPr>
          <p:cNvPr id="4" name="Text 2"/>
          <p:cNvSpPr/>
          <p:nvPr/>
        </p:nvSpPr>
        <p:spPr>
          <a:xfrm>
            <a:off x="10731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PLACEMENT</a:t>
            </a:r>
            <a:endParaRPr lang="en-US" sz="1200" dirty="0"/>
          </a:p>
        </p:txBody>
      </p:sp>
      <p:sp>
        <p:nvSpPr>
          <p:cNvPr id="5" name="Text 3"/>
          <p:cNvSpPr/>
          <p:nvPr/>
        </p:nvSpPr>
        <p:spPr>
          <a:xfrm>
            <a:off x="1073150" y="372546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Management side</a:t>
            </a:r>
            <a:endParaRPr lang="en-US" sz="1800" dirty="0"/>
          </a:p>
        </p:txBody>
      </p:sp>
      <p:sp>
        <p:nvSpPr>
          <p:cNvPr id="6" name="Text 4"/>
          <p:cNvSpPr/>
          <p:nvPr/>
        </p:nvSpPr>
        <p:spPr>
          <a:xfrm>
            <a:off x="1073150" y="4088606"/>
            <a:ext cx="2066798"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The server sits only on the management network, with no leg in the customer network.</a:t>
            </a:r>
            <a:endParaRPr lang="en-US" sz="1400" dirty="0"/>
          </a:p>
        </p:txBody>
      </p:sp>
      <p:sp>
        <p:nvSpPr>
          <p:cNvPr id="7" name="Shape 5"/>
          <p:cNvSpPr/>
          <p:nvPr/>
        </p:nvSpPr>
        <p:spPr>
          <a:xfrm>
            <a:off x="3495675" y="3166070"/>
            <a:ext cx="2520950" cy="2672755"/>
          </a:xfrm>
          <a:prstGeom prst="roundRect">
            <a:avLst>
              <a:gd name="adj" fmla="val 3904"/>
            </a:avLst>
          </a:prstGeom>
          <a:solidFill>
            <a:srgbClr val="F1F5F9"/>
          </a:solidFill>
          <a:ln w="6350">
            <a:solidFill>
              <a:srgbClr val="E2E8F0"/>
            </a:solidFill>
            <a:prstDash val="solid"/>
          </a:ln>
        </p:spPr>
      </p:sp>
      <p:sp>
        <p:nvSpPr>
          <p:cNvPr id="8" name="Text 6"/>
          <p:cNvSpPr/>
          <p:nvPr/>
        </p:nvSpPr>
        <p:spPr>
          <a:xfrm>
            <a:off x="37528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ACCESS</a:t>
            </a:r>
            <a:endParaRPr lang="en-US" sz="1200" dirty="0"/>
          </a:p>
        </p:txBody>
      </p:sp>
      <p:sp>
        <p:nvSpPr>
          <p:cNvPr id="9" name="Text 7"/>
          <p:cNvSpPr/>
          <p:nvPr/>
        </p:nvSpPr>
        <p:spPr>
          <a:xfrm>
            <a:off x="3752850" y="372546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Read-only</a:t>
            </a:r>
            <a:endParaRPr lang="en-US" sz="1800" dirty="0"/>
          </a:p>
        </p:txBody>
      </p:sp>
      <p:sp>
        <p:nvSpPr>
          <p:cNvPr id="10" name="Text 8"/>
          <p:cNvSpPr/>
          <p:nvPr/>
        </p:nvSpPr>
        <p:spPr>
          <a:xfrm>
            <a:off x="3752850" y="4088606"/>
            <a:ext cx="2066798"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SNMP and RouterOS read access, limited to the server's address. It cannot change any device.</a:t>
            </a:r>
            <a:endParaRPr lang="en-US" sz="1400" dirty="0"/>
          </a:p>
        </p:txBody>
      </p:sp>
      <p:sp>
        <p:nvSpPr>
          <p:cNvPr id="11" name="Shape 9"/>
          <p:cNvSpPr/>
          <p:nvPr/>
        </p:nvSpPr>
        <p:spPr>
          <a:xfrm>
            <a:off x="6175375" y="3166070"/>
            <a:ext cx="2520950" cy="2672755"/>
          </a:xfrm>
          <a:prstGeom prst="roundRect">
            <a:avLst>
              <a:gd name="adj" fmla="val 3904"/>
            </a:avLst>
          </a:prstGeom>
          <a:solidFill>
            <a:srgbClr val="F1F5F9"/>
          </a:solidFill>
          <a:ln w="6350">
            <a:solidFill>
              <a:srgbClr val="E2E8F0"/>
            </a:solidFill>
            <a:prstDash val="solid"/>
          </a:ln>
        </p:spPr>
      </p:sp>
      <p:sp>
        <p:nvSpPr>
          <p:cNvPr id="12" name="Text 10"/>
          <p:cNvSpPr/>
          <p:nvPr/>
        </p:nvSpPr>
        <p:spPr>
          <a:xfrm>
            <a:off x="64325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DIRECTION</a:t>
            </a:r>
            <a:endParaRPr lang="en-US" sz="1200" dirty="0"/>
          </a:p>
        </p:txBody>
      </p:sp>
      <p:sp>
        <p:nvSpPr>
          <p:cNvPr id="13" name="Text 11"/>
          <p:cNvSpPr/>
          <p:nvPr/>
        </p:nvSpPr>
        <p:spPr>
          <a:xfrm>
            <a:off x="6432550" y="3725466"/>
            <a:ext cx="2066798"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Outbound only</a:t>
            </a:r>
            <a:endParaRPr lang="en-US" sz="1800" dirty="0"/>
          </a:p>
        </p:txBody>
      </p:sp>
      <p:sp>
        <p:nvSpPr>
          <p:cNvPr id="14" name="Text 12"/>
          <p:cNvSpPr/>
          <p:nvPr/>
        </p:nvSpPr>
        <p:spPr>
          <a:xfrm>
            <a:off x="6432550" y="4362847"/>
            <a:ext cx="206679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Only the server calls out (Telegram, optional WhatsApp). Nothing is exposed to the internet.</a:t>
            </a:r>
            <a:endParaRPr lang="en-US" sz="1400" dirty="0"/>
          </a:p>
        </p:txBody>
      </p:sp>
      <p:sp>
        <p:nvSpPr>
          <p:cNvPr id="15" name="Shape 13"/>
          <p:cNvSpPr/>
          <p:nvPr/>
        </p:nvSpPr>
        <p:spPr>
          <a:xfrm>
            <a:off x="8855075" y="3166070"/>
            <a:ext cx="2520950" cy="2672755"/>
          </a:xfrm>
          <a:prstGeom prst="roundRect">
            <a:avLst>
              <a:gd name="adj" fmla="val 3904"/>
            </a:avLst>
          </a:prstGeom>
          <a:solidFill>
            <a:srgbClr val="F1F5F9"/>
          </a:solidFill>
          <a:ln w="6350">
            <a:solidFill>
              <a:srgbClr val="E2E8F0"/>
            </a:solidFill>
            <a:prstDash val="solid"/>
          </a:ln>
        </p:spPr>
      </p:sp>
      <p:sp>
        <p:nvSpPr>
          <p:cNvPr id="16" name="Text 14"/>
          <p:cNvSpPr/>
          <p:nvPr/>
        </p:nvSpPr>
        <p:spPr>
          <a:xfrm>
            <a:off x="91122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SECRETS</a:t>
            </a:r>
            <a:endParaRPr lang="en-US" sz="1200" dirty="0"/>
          </a:p>
        </p:txBody>
      </p:sp>
      <p:sp>
        <p:nvSpPr>
          <p:cNvPr id="17" name="Text 15"/>
          <p:cNvSpPr/>
          <p:nvPr/>
        </p:nvSpPr>
        <p:spPr>
          <a:xfrm>
            <a:off x="9112250" y="372546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Kept out of git</a:t>
            </a:r>
            <a:endParaRPr lang="en-US" sz="1800" dirty="0"/>
          </a:p>
        </p:txBody>
      </p:sp>
      <p:sp>
        <p:nvSpPr>
          <p:cNvPr id="18" name="Text 16"/>
          <p:cNvSpPr/>
          <p:nvPr/>
        </p:nvSpPr>
        <p:spPr>
          <a:xfrm>
            <a:off x="9112250" y="4088606"/>
            <a:ext cx="206679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Passwords and tokens are Docker secrets in local files, never in the repository.</a:t>
            </a:r>
            <a:endParaRPr lang="en-US" sz="1400" dirty="0"/>
          </a:p>
        </p:txBody>
      </p:sp>
      <p:sp>
        <p:nvSpPr>
          <p:cNvPr id="19"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20" name="Image 0" descr="Officetech">    </p:cNvPr>
          <p:cNvPicPr>
            <a:picLocks noChangeAspect="1"/>
          </p:cNvPicPr>
          <p:nvPr/>
        </p:nvPicPr>
        <p:blipFill>
          <a:blip r:embed="rId1"/>
          <a:srcRect l="-105" r="-105" t="0" b="0"/>
          <a:stretch/>
        </p:blipFill>
        <p:spPr>
          <a:xfrm>
            <a:off x="10452100" y="6273800"/>
            <a:ext cx="927100" cy="2794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981075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20817"/>
                </a:solidFill>
                <a:latin typeface="Inter" pitchFamily="34" charset="0"/>
                <a:ea typeface="Inter" pitchFamily="34" charset="-122"/>
                <a:cs typeface="Inter" pitchFamily="34" charset="-120"/>
              </a:rPr>
              <a:t>It also watches the server it runs on.</a:t>
            </a:r>
            <a:endParaRPr lang="en-US" sz="3600" dirty="0"/>
          </a:p>
        </p:txBody>
      </p:sp>
      <p:sp>
        <p:nvSpPr>
          <p:cNvPr id="3" name="Shape 1"/>
          <p:cNvSpPr/>
          <p:nvPr/>
        </p:nvSpPr>
        <p:spPr>
          <a:xfrm>
            <a:off x="815975" y="3166070"/>
            <a:ext cx="2520950" cy="2672755"/>
          </a:xfrm>
          <a:prstGeom prst="roundRect">
            <a:avLst>
              <a:gd name="adj" fmla="val 3904"/>
            </a:avLst>
          </a:prstGeom>
          <a:solidFill>
            <a:srgbClr val="F1F5F9"/>
          </a:solidFill>
          <a:ln w="6350">
            <a:solidFill>
              <a:srgbClr val="E2E8F0"/>
            </a:solidFill>
            <a:prstDash val="solid"/>
          </a:ln>
        </p:spPr>
      </p:sp>
      <p:sp>
        <p:nvSpPr>
          <p:cNvPr id="4" name="Text 2"/>
          <p:cNvSpPr/>
          <p:nvPr/>
        </p:nvSpPr>
        <p:spPr>
          <a:xfrm>
            <a:off x="10731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HOST</a:t>
            </a:r>
            <a:endParaRPr lang="en-US" sz="1200" dirty="0"/>
          </a:p>
        </p:txBody>
      </p:sp>
      <p:sp>
        <p:nvSpPr>
          <p:cNvPr id="5" name="Text 3"/>
          <p:cNvSpPr/>
          <p:nvPr/>
        </p:nvSpPr>
        <p:spPr>
          <a:xfrm>
            <a:off x="1073150" y="372546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Disk, RAM, CPU</a:t>
            </a:r>
            <a:endParaRPr lang="en-US" sz="1800" dirty="0"/>
          </a:p>
        </p:txBody>
      </p:sp>
      <p:sp>
        <p:nvSpPr>
          <p:cNvPr id="6" name="Text 4"/>
          <p:cNvSpPr/>
          <p:nvPr/>
        </p:nvSpPr>
        <p:spPr>
          <a:xfrm>
            <a:off x="1073150" y="4088606"/>
            <a:ext cx="2066798"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Alerts when disk is almost full or filling fast, memory runs low, CPU saturates or the clock drifts.</a:t>
            </a:r>
            <a:endParaRPr lang="en-US" sz="1400" dirty="0"/>
          </a:p>
        </p:txBody>
      </p:sp>
      <p:sp>
        <p:nvSpPr>
          <p:cNvPr id="7" name="Shape 5"/>
          <p:cNvSpPr/>
          <p:nvPr/>
        </p:nvSpPr>
        <p:spPr>
          <a:xfrm>
            <a:off x="3495675" y="3166070"/>
            <a:ext cx="2520950" cy="2672755"/>
          </a:xfrm>
          <a:prstGeom prst="roundRect">
            <a:avLst>
              <a:gd name="adj" fmla="val 3904"/>
            </a:avLst>
          </a:prstGeom>
          <a:solidFill>
            <a:srgbClr val="F1F5F9"/>
          </a:solidFill>
          <a:ln w="6350">
            <a:solidFill>
              <a:srgbClr val="E2E8F0"/>
            </a:solidFill>
            <a:prstDash val="solid"/>
          </a:ln>
        </p:spPr>
      </p:sp>
      <p:sp>
        <p:nvSpPr>
          <p:cNvPr id="8" name="Text 6"/>
          <p:cNvSpPr/>
          <p:nvPr/>
        </p:nvSpPr>
        <p:spPr>
          <a:xfrm>
            <a:off x="37528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ALERT PATH</a:t>
            </a:r>
            <a:endParaRPr lang="en-US" sz="1200" dirty="0"/>
          </a:p>
        </p:txBody>
      </p:sp>
      <p:sp>
        <p:nvSpPr>
          <p:cNvPr id="9" name="Text 7"/>
          <p:cNvSpPr/>
          <p:nvPr/>
        </p:nvSpPr>
        <p:spPr>
          <a:xfrm>
            <a:off x="3752850" y="372546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Delivery checked</a:t>
            </a:r>
            <a:endParaRPr lang="en-US" sz="1800" dirty="0"/>
          </a:p>
        </p:txBody>
      </p:sp>
      <p:sp>
        <p:nvSpPr>
          <p:cNvPr id="10" name="Text 8"/>
          <p:cNvSpPr/>
          <p:nvPr/>
        </p:nvSpPr>
        <p:spPr>
          <a:xfrm>
            <a:off x="3752850" y="4088606"/>
            <a:ext cx="2066798"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Alerts if rules stop evaluating or Alertmanager cannot deliver a notification.</a:t>
            </a:r>
            <a:endParaRPr lang="en-US" sz="1400" dirty="0"/>
          </a:p>
        </p:txBody>
      </p:sp>
      <p:sp>
        <p:nvSpPr>
          <p:cNvPr id="11" name="Shape 9"/>
          <p:cNvSpPr/>
          <p:nvPr/>
        </p:nvSpPr>
        <p:spPr>
          <a:xfrm>
            <a:off x="6175375" y="3166070"/>
            <a:ext cx="2520950" cy="2672755"/>
          </a:xfrm>
          <a:prstGeom prst="roundRect">
            <a:avLst>
              <a:gd name="adj" fmla="val 3904"/>
            </a:avLst>
          </a:prstGeom>
          <a:solidFill>
            <a:srgbClr val="F1F5F9"/>
          </a:solidFill>
          <a:ln w="6350">
            <a:solidFill>
              <a:srgbClr val="E2E8F0"/>
            </a:solidFill>
            <a:prstDash val="solid"/>
          </a:ln>
        </p:spPr>
      </p:sp>
      <p:sp>
        <p:nvSpPr>
          <p:cNvPr id="12" name="Text 10"/>
          <p:cNvSpPr/>
          <p:nvPr/>
        </p:nvSpPr>
        <p:spPr>
          <a:xfrm>
            <a:off x="64325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STACK</a:t>
            </a:r>
            <a:endParaRPr lang="en-US" sz="1200" dirty="0"/>
          </a:p>
        </p:txBody>
      </p:sp>
      <p:sp>
        <p:nvSpPr>
          <p:cNvPr id="13" name="Text 11"/>
          <p:cNvSpPr/>
          <p:nvPr/>
        </p:nvSpPr>
        <p:spPr>
          <a:xfrm>
            <a:off x="6432550" y="3725466"/>
            <a:ext cx="2066798"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Every component</a:t>
            </a:r>
            <a:endParaRPr lang="en-US" sz="1800" dirty="0"/>
          </a:p>
        </p:txBody>
      </p:sp>
      <p:sp>
        <p:nvSpPr>
          <p:cNvPr id="14" name="Text 12"/>
          <p:cNvSpPr/>
          <p:nvPr/>
        </p:nvSpPr>
        <p:spPr>
          <a:xfrm>
            <a:off x="6432550" y="4362847"/>
            <a:ext cx="206679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Prometheus, Grafana, Alertmanager and each probe are checked. One alert says which is down.</a:t>
            </a:r>
            <a:endParaRPr lang="en-US" sz="1400" dirty="0"/>
          </a:p>
        </p:txBody>
      </p:sp>
      <p:sp>
        <p:nvSpPr>
          <p:cNvPr id="15" name="Shape 13"/>
          <p:cNvSpPr/>
          <p:nvPr/>
        </p:nvSpPr>
        <p:spPr>
          <a:xfrm>
            <a:off x="8855075" y="3166070"/>
            <a:ext cx="2520950" cy="2672755"/>
          </a:xfrm>
          <a:prstGeom prst="roundRect">
            <a:avLst>
              <a:gd name="adj" fmla="val 3904"/>
            </a:avLst>
          </a:prstGeom>
          <a:solidFill>
            <a:srgbClr val="F1F5F9"/>
          </a:solidFill>
          <a:ln w="6350">
            <a:solidFill>
              <a:srgbClr val="E2E8F0"/>
            </a:solidFill>
            <a:prstDash val="solid"/>
          </a:ln>
        </p:spPr>
      </p:sp>
      <p:sp>
        <p:nvSpPr>
          <p:cNvPr id="16" name="Text 14"/>
          <p:cNvSpPr/>
          <p:nvPr/>
        </p:nvSpPr>
        <p:spPr>
          <a:xfrm>
            <a:off x="91122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DASHBOARD</a:t>
            </a:r>
            <a:endParaRPr lang="en-US" sz="1200" dirty="0"/>
          </a:p>
        </p:txBody>
      </p:sp>
      <p:sp>
        <p:nvSpPr>
          <p:cNvPr id="17" name="Text 15"/>
          <p:cNvSpPr/>
          <p:nvPr/>
        </p:nvSpPr>
        <p:spPr>
          <a:xfrm>
            <a:off x="9112250" y="372546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Server Health</a:t>
            </a:r>
            <a:endParaRPr lang="en-US" sz="1800" dirty="0"/>
          </a:p>
        </p:txBody>
      </p:sp>
      <p:sp>
        <p:nvSpPr>
          <p:cNvPr id="18" name="Text 16"/>
          <p:cNvSpPr/>
          <p:nvPr/>
        </p:nvSpPr>
        <p:spPr>
          <a:xfrm>
            <a:off x="9112250" y="4088606"/>
            <a:ext cx="206679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Host load, storage trend, component status and the WhatsApp message budget on one page.</a:t>
            </a:r>
            <a:endParaRPr lang="en-US" sz="1400" dirty="0"/>
          </a:p>
        </p:txBody>
      </p:sp>
      <p:sp>
        <p:nvSpPr>
          <p:cNvPr id="19"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20" name="Image 0" descr="Officetech">    </p:cNvPr>
          <p:cNvPicPr>
            <a:picLocks noChangeAspect="1"/>
          </p:cNvPicPr>
          <p:nvPr/>
        </p:nvPicPr>
        <p:blipFill>
          <a:blip r:embed="rId1"/>
          <a:srcRect l="-105" r="-105" t="0" b="0"/>
          <a:stretch/>
        </p:blipFill>
        <p:spPr>
          <a:xfrm>
            <a:off x="10452100" y="6273800"/>
            <a:ext cx="927100" cy="2794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981075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20817"/>
                </a:solidFill>
                <a:latin typeface="Inter" pitchFamily="34" charset="0"/>
                <a:ea typeface="Inter" pitchFamily="34" charset="-122"/>
                <a:cs typeface="Inter" pitchFamily="34" charset="-120"/>
              </a:rPr>
              <a:t>Alerts reach you where you are.</a:t>
            </a:r>
            <a:endParaRPr lang="en-US" sz="3600" dirty="0"/>
          </a:p>
        </p:txBody>
      </p:sp>
      <p:sp>
        <p:nvSpPr>
          <p:cNvPr id="3" name="Shape 1"/>
          <p:cNvSpPr/>
          <p:nvPr/>
        </p:nvSpPr>
        <p:spPr>
          <a:xfrm>
            <a:off x="815975" y="3166070"/>
            <a:ext cx="2520950" cy="2672755"/>
          </a:xfrm>
          <a:prstGeom prst="roundRect">
            <a:avLst>
              <a:gd name="adj" fmla="val 3904"/>
            </a:avLst>
          </a:prstGeom>
          <a:solidFill>
            <a:srgbClr val="F1F5F9"/>
          </a:solidFill>
          <a:ln w="6350">
            <a:solidFill>
              <a:srgbClr val="E2E8F0"/>
            </a:solidFill>
            <a:prstDash val="solid"/>
          </a:ln>
        </p:spPr>
      </p:sp>
      <p:sp>
        <p:nvSpPr>
          <p:cNvPr id="4" name="Text 2"/>
          <p:cNvSpPr/>
          <p:nvPr/>
        </p:nvSpPr>
        <p:spPr>
          <a:xfrm>
            <a:off x="10731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TELEGRAM</a:t>
            </a:r>
            <a:endParaRPr lang="en-US" sz="1200" dirty="0"/>
          </a:p>
        </p:txBody>
      </p:sp>
      <p:sp>
        <p:nvSpPr>
          <p:cNvPr id="5" name="Text 3"/>
          <p:cNvSpPr/>
          <p:nvPr/>
        </p:nvSpPr>
        <p:spPr>
          <a:xfrm>
            <a:off x="1073150" y="372546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Every alert</a:t>
            </a:r>
            <a:endParaRPr lang="en-US" sz="1800" dirty="0"/>
          </a:p>
        </p:txBody>
      </p:sp>
      <p:sp>
        <p:nvSpPr>
          <p:cNvPr id="6" name="Text 4"/>
          <p:cNvSpPr/>
          <p:nvPr/>
        </p:nvSpPr>
        <p:spPr>
          <a:xfrm>
            <a:off x="1073150" y="4088606"/>
            <a:ext cx="2066798"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The NOC group gets every alert, one message per failure. Free, and the primary channel.</a:t>
            </a:r>
            <a:endParaRPr lang="en-US" sz="1400" dirty="0"/>
          </a:p>
        </p:txBody>
      </p:sp>
      <p:sp>
        <p:nvSpPr>
          <p:cNvPr id="7" name="Shape 5"/>
          <p:cNvSpPr/>
          <p:nvPr/>
        </p:nvSpPr>
        <p:spPr>
          <a:xfrm>
            <a:off x="3495675" y="3166070"/>
            <a:ext cx="2520950" cy="2672755"/>
          </a:xfrm>
          <a:prstGeom prst="roundRect">
            <a:avLst>
              <a:gd name="adj" fmla="val 3904"/>
            </a:avLst>
          </a:prstGeom>
          <a:solidFill>
            <a:srgbClr val="F1F5F9"/>
          </a:solidFill>
          <a:ln w="6350">
            <a:solidFill>
              <a:srgbClr val="E2E8F0"/>
            </a:solidFill>
            <a:prstDash val="solid"/>
          </a:ln>
        </p:spPr>
      </p:sp>
      <p:sp>
        <p:nvSpPr>
          <p:cNvPr id="8" name="Text 6"/>
          <p:cNvSpPr/>
          <p:nvPr/>
        </p:nvSpPr>
        <p:spPr>
          <a:xfrm>
            <a:off x="37528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WHATSAPP</a:t>
            </a:r>
            <a:endParaRPr lang="en-US" sz="1200" dirty="0"/>
          </a:p>
        </p:txBody>
      </p:sp>
      <p:sp>
        <p:nvSpPr>
          <p:cNvPr id="9" name="Text 7"/>
          <p:cNvSpPr/>
          <p:nvPr/>
        </p:nvSpPr>
        <p:spPr>
          <a:xfrm>
            <a:off x="3752850" y="372546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Real outages only</a:t>
            </a:r>
            <a:endParaRPr lang="en-US" sz="1800" dirty="0"/>
          </a:p>
        </p:txBody>
      </p:sp>
      <p:sp>
        <p:nvSpPr>
          <p:cNvPr id="10" name="Text 8"/>
          <p:cNvSpPr/>
          <p:nvPr/>
        </p:nvSpPr>
        <p:spPr>
          <a:xfrm>
            <a:off x="3752850" y="4088606"/>
            <a:ext cx="2066798"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Only outages lasting 30+ minutes reach the on-call phone, so weather fades do not. The rest stays on Telegram.</a:t>
            </a:r>
            <a:endParaRPr lang="en-US" sz="1400" dirty="0"/>
          </a:p>
        </p:txBody>
      </p:sp>
      <p:sp>
        <p:nvSpPr>
          <p:cNvPr id="11" name="Shape 9"/>
          <p:cNvSpPr/>
          <p:nvPr/>
        </p:nvSpPr>
        <p:spPr>
          <a:xfrm>
            <a:off x="6175375" y="3166070"/>
            <a:ext cx="2520950" cy="2672755"/>
          </a:xfrm>
          <a:prstGeom prst="roundRect">
            <a:avLst>
              <a:gd name="adj" fmla="val 3904"/>
            </a:avLst>
          </a:prstGeom>
          <a:solidFill>
            <a:srgbClr val="F1F5F9"/>
          </a:solidFill>
          <a:ln w="6350">
            <a:solidFill>
              <a:srgbClr val="E2E8F0"/>
            </a:solidFill>
            <a:prstDash val="solid"/>
          </a:ln>
        </p:spPr>
      </p:sp>
      <p:sp>
        <p:nvSpPr>
          <p:cNvPr id="12" name="Text 10"/>
          <p:cNvSpPr/>
          <p:nvPr/>
        </p:nvSpPr>
        <p:spPr>
          <a:xfrm>
            <a:off x="64325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COST CONTROL</a:t>
            </a:r>
            <a:endParaRPr lang="en-US" sz="1200" dirty="0"/>
          </a:p>
        </p:txBody>
      </p:sp>
      <p:sp>
        <p:nvSpPr>
          <p:cNvPr id="13" name="Text 11"/>
          <p:cNvSpPr/>
          <p:nvPr/>
        </p:nvSpPr>
        <p:spPr>
          <a:xfrm>
            <a:off x="6432550" y="3725466"/>
            <a:ext cx="2066798"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Capped by design</a:t>
            </a:r>
            <a:endParaRPr lang="en-US" sz="1800" dirty="0"/>
          </a:p>
        </p:txBody>
      </p:sp>
      <p:sp>
        <p:nvSpPr>
          <p:cNvPr id="14" name="Text 12"/>
          <p:cNvSpPr/>
          <p:nvPr/>
        </p:nvSpPr>
        <p:spPr>
          <a:xfrm>
            <a:off x="6432550" y="4362847"/>
            <a:ext cx="206679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Starts in dry-run. Hard daily and monthly message limits, and a warning at 80% of the budget.</a:t>
            </a:r>
            <a:endParaRPr lang="en-US" sz="1400" dirty="0"/>
          </a:p>
        </p:txBody>
      </p:sp>
      <p:sp>
        <p:nvSpPr>
          <p:cNvPr id="15" name="Shape 13"/>
          <p:cNvSpPr/>
          <p:nvPr/>
        </p:nvSpPr>
        <p:spPr>
          <a:xfrm>
            <a:off x="8855075" y="3166070"/>
            <a:ext cx="2520950" cy="2672755"/>
          </a:xfrm>
          <a:prstGeom prst="roundRect">
            <a:avLst>
              <a:gd name="adj" fmla="val 3904"/>
            </a:avLst>
          </a:prstGeom>
          <a:solidFill>
            <a:srgbClr val="F1F5F9"/>
          </a:solidFill>
          <a:ln w="6350">
            <a:solidFill>
              <a:srgbClr val="E2E8F0"/>
            </a:solidFill>
            <a:prstDash val="solid"/>
          </a:ln>
        </p:spPr>
      </p:sp>
      <p:sp>
        <p:nvSpPr>
          <p:cNvPr id="16" name="Text 14"/>
          <p:cNvSpPr/>
          <p:nvPr/>
        </p:nvSpPr>
        <p:spPr>
          <a:xfrm>
            <a:off x="9112250" y="3423245"/>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4BCC"/>
                </a:solidFill>
                <a:latin typeface="Inter" pitchFamily="34" charset="0"/>
                <a:ea typeface="Inter" pitchFamily="34" charset="-122"/>
                <a:cs typeface="Inter" pitchFamily="34" charset="-120"/>
              </a:rPr>
              <a:t>QUIET</a:t>
            </a:r>
            <a:endParaRPr lang="en-US" sz="1200" dirty="0"/>
          </a:p>
        </p:txBody>
      </p:sp>
      <p:sp>
        <p:nvSpPr>
          <p:cNvPr id="17" name="Text 15"/>
          <p:cNvSpPr/>
          <p:nvPr/>
        </p:nvSpPr>
        <p:spPr>
          <a:xfrm>
            <a:off x="9112250" y="3725466"/>
            <a:ext cx="20667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20817"/>
                </a:solidFill>
                <a:latin typeface="Inter" pitchFamily="34" charset="0"/>
                <a:ea typeface="Inter" pitchFamily="34" charset="-122"/>
                <a:cs typeface="Inter" pitchFamily="34" charset="-120"/>
              </a:rPr>
              <a:t>No resolve spam</a:t>
            </a:r>
            <a:endParaRPr lang="en-US" sz="1800" dirty="0"/>
          </a:p>
        </p:txBody>
      </p:sp>
      <p:sp>
        <p:nvSpPr>
          <p:cNvPr id="18" name="Text 16"/>
          <p:cNvSpPr/>
          <p:nvPr/>
        </p:nvSpPr>
        <p:spPr>
          <a:xfrm>
            <a:off x="9112250" y="4088606"/>
            <a:ext cx="206679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No recovery messages on WhatsApp, and a warning clearing sends no ping on Telegram.</a:t>
            </a:r>
            <a:endParaRPr lang="en-US" sz="1400" dirty="0"/>
          </a:p>
        </p:txBody>
      </p:sp>
      <p:sp>
        <p:nvSpPr>
          <p:cNvPr id="19"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ISP Network Observability Platform</a:t>
            </a:r>
            <a:endParaRPr lang="en-US" sz="1200" dirty="0"/>
          </a:p>
        </p:txBody>
      </p:sp>
      <p:pic>
        <p:nvPicPr>
          <p:cNvPr id="20" name="Image 0" descr="Officetech">    </p:cNvPr>
          <p:cNvPicPr>
            <a:picLocks noChangeAspect="1"/>
          </p:cNvPicPr>
          <p:nvPr/>
        </p:nvPicPr>
        <p:blipFill>
          <a:blip r:embed="rId1"/>
          <a:srcRect l="-105" r="-105" t="0" b="0"/>
          <a:stretch/>
        </p:blipFill>
        <p:spPr>
          <a:xfrm>
            <a:off x="10452100" y="6273800"/>
            <a:ext cx="927100" cy="279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ISP Network Observability Platform: Pilot Proposal</dc:title>
  <dc:subject/>
  <dc:creator/>
  <cp:lastModifiedBy/>
  <cp:revision>1</cp:revision>
  <dcterms:created xsi:type="dcterms:W3CDTF">2026-10-09T06:46:06Z</dcterms:created>
  <dcterms:modified xsi:type="dcterms:W3CDTF">2026-10-09T06:46:06Z</dcterms:modified>
</cp:coreProperties>
</file>